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70" r:id="rId3"/>
    <p:sldId id="256" r:id="rId4"/>
    <p:sldId id="257" r:id="rId5"/>
    <p:sldId id="258" r:id="rId6"/>
    <p:sldId id="269"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92CFC9-3484-928B-17A3-A5CE182B4077}"/>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30C66B1-A84E-25E6-2D40-2B70417AC4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EDE1F82-EDC8-4332-2122-A72C3B68CA51}"/>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5" name="Espaço Reservado para Rodapé 4">
            <a:extLst>
              <a:ext uri="{FF2B5EF4-FFF2-40B4-BE49-F238E27FC236}">
                <a16:creationId xmlns:a16="http://schemas.microsoft.com/office/drawing/2014/main" id="{365F2EDD-E6A1-767F-EB38-A8C4CFB9181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204C91C-43F8-E703-B096-5EEB3F0524FC}"/>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467547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233D7D-0F84-6922-B381-B75475E6E09D}"/>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A15BB4F-6EFF-7F73-42F8-E700F395EFB4}"/>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190734B-16BB-DE8A-30FD-D63645AC9447}"/>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5" name="Espaço Reservado para Rodapé 4">
            <a:extLst>
              <a:ext uri="{FF2B5EF4-FFF2-40B4-BE49-F238E27FC236}">
                <a16:creationId xmlns:a16="http://schemas.microsoft.com/office/drawing/2014/main" id="{5F744E6C-0BC2-BF5B-8C3B-1FF5FE88152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04502A5-01FD-0FD2-0235-6820AE0F5E07}"/>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3551399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22118A-D77E-47E4-BB10-6A4C3BCBF6AE}"/>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23BC92A9-C547-426D-EBCB-82B4CAF842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15F45CDB-4818-D167-8CF8-780484087B5E}"/>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5" name="Espaço Reservado para Rodapé 4">
            <a:extLst>
              <a:ext uri="{FF2B5EF4-FFF2-40B4-BE49-F238E27FC236}">
                <a16:creationId xmlns:a16="http://schemas.microsoft.com/office/drawing/2014/main" id="{084FF269-A259-0292-2286-D231069C167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1F6A590-37A6-756F-28E9-111251236256}"/>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5608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E09668-86C6-AF48-31BD-CF1E774B6AEC}"/>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6872DD09-D306-8445-034C-B259B382CA83}"/>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52BBFADC-792E-DBF8-CE1B-7D5C185E692F}"/>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EE36315F-AF96-2762-3F9D-D3D97C5F454F}"/>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6" name="Espaço Reservado para Rodapé 5">
            <a:extLst>
              <a:ext uri="{FF2B5EF4-FFF2-40B4-BE49-F238E27FC236}">
                <a16:creationId xmlns:a16="http://schemas.microsoft.com/office/drawing/2014/main" id="{6F512920-80CD-8A43-6BB8-5A9588FEB399}"/>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2B04CBC-9C3D-22B0-CC61-C5FF6B790448}"/>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1321349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6570A8-D513-DEC6-F9C1-387202001D9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152F5FD-5228-1FD4-E6D1-EBDFAF77D5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6AC9301B-E500-6D4A-1023-BE87DE05A45C}"/>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E857194A-1933-6179-450D-E99CE79FCF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AF287CD4-07C2-9671-B307-C7780200487A}"/>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C196FFFF-E66C-A3BB-58D6-1EFDE5BA60B7}"/>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8" name="Espaço Reservado para Rodapé 7">
            <a:extLst>
              <a:ext uri="{FF2B5EF4-FFF2-40B4-BE49-F238E27FC236}">
                <a16:creationId xmlns:a16="http://schemas.microsoft.com/office/drawing/2014/main" id="{AEBBC8FE-C5C0-B2B5-7435-619B22E89C8D}"/>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911E0E73-5105-66AB-6E5B-799617E4ED14}"/>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219780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DA0807-5E8D-B7DF-6CA3-3AAF77F1063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49E8CFF-715C-9549-09F6-01F60D2F2435}"/>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4" name="Espaço Reservado para Rodapé 3">
            <a:extLst>
              <a:ext uri="{FF2B5EF4-FFF2-40B4-BE49-F238E27FC236}">
                <a16:creationId xmlns:a16="http://schemas.microsoft.com/office/drawing/2014/main" id="{FAD3C21A-90F3-344A-367D-4D80711BA30D}"/>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01209E2A-A7B9-3FAD-6E64-53079A05C8AC}"/>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3757041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BF5F4660-0ACB-4D40-01AA-3C7F1FD89DB2}"/>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3" name="Espaço Reservado para Rodapé 2">
            <a:extLst>
              <a:ext uri="{FF2B5EF4-FFF2-40B4-BE49-F238E27FC236}">
                <a16:creationId xmlns:a16="http://schemas.microsoft.com/office/drawing/2014/main" id="{467EACAB-5E73-9E6B-5C35-BDEEAC82E442}"/>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C2A302C6-9E9B-DADB-6647-64E693C23359}"/>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1361912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0D4D7F-20B8-1EB3-D7DB-78F6066EE457}"/>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650BCAA2-9F36-302F-C321-C0A8BD88DF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28B1ECBD-1421-9DEC-5139-3860A933E0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73F62056-50E5-70B9-0CA1-6D8E0E87243D}"/>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6" name="Espaço Reservado para Rodapé 5">
            <a:extLst>
              <a:ext uri="{FF2B5EF4-FFF2-40B4-BE49-F238E27FC236}">
                <a16:creationId xmlns:a16="http://schemas.microsoft.com/office/drawing/2014/main" id="{5E3C3944-1CA5-DEA1-0D14-24F2D33BAC6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3D28E698-8439-3B7E-F856-F546A0AD023D}"/>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3952818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F65C07-09DE-F9DF-55FE-5ADDA63E6C4C}"/>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8E44D157-9354-A58F-832A-6D917EECDA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9A70E7A0-EED7-2B4A-BDA7-D6C42EB901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BCE92D02-A13C-4EAA-DF33-BF85497E8FDD}"/>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6" name="Espaço Reservado para Rodapé 5">
            <a:extLst>
              <a:ext uri="{FF2B5EF4-FFF2-40B4-BE49-F238E27FC236}">
                <a16:creationId xmlns:a16="http://schemas.microsoft.com/office/drawing/2014/main" id="{DB585ECE-C408-B0D9-F8EA-6BB3FDC05F9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BF03B021-CFD9-638A-FA13-EACE66614B2D}"/>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2648094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1F67E-7DC5-A02E-D8E8-3BFBFFA1FA5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C7BF22C8-5A09-00BD-C79D-B250A16AACA3}"/>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05F9AB4-01AB-A32D-56C8-6BA6F5A87484}"/>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5" name="Espaço Reservado para Rodapé 4">
            <a:extLst>
              <a:ext uri="{FF2B5EF4-FFF2-40B4-BE49-F238E27FC236}">
                <a16:creationId xmlns:a16="http://schemas.microsoft.com/office/drawing/2014/main" id="{62BD3B03-D3AA-C607-3D8C-3990CDCD000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577DB31-D8A2-920D-6B47-503800DCE792}"/>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3792301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E13AD46-8601-B0F4-2C47-4F03668DF72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66933DB8-AB9C-9AF3-6BE5-6F4FE5C0D461}"/>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649493A-4BBB-53BC-5339-4C9EF8F7ABB8}"/>
              </a:ext>
            </a:extLst>
          </p:cNvPr>
          <p:cNvSpPr>
            <a:spLocks noGrp="1"/>
          </p:cNvSpPr>
          <p:nvPr>
            <p:ph type="dt" sz="half" idx="10"/>
          </p:nvPr>
        </p:nvSpPr>
        <p:spPr/>
        <p:txBody>
          <a:bodyPr/>
          <a:lstStyle/>
          <a:p>
            <a:fld id="{8D789E35-A8E4-4AAA-A09F-315CD9FF33D0}" type="datetimeFigureOut">
              <a:rPr lang="pt-BR" smtClean="0"/>
              <a:t>20/03/2024</a:t>
            </a:fld>
            <a:endParaRPr lang="pt-BR"/>
          </a:p>
        </p:txBody>
      </p:sp>
      <p:sp>
        <p:nvSpPr>
          <p:cNvPr id="5" name="Espaço Reservado para Rodapé 4">
            <a:extLst>
              <a:ext uri="{FF2B5EF4-FFF2-40B4-BE49-F238E27FC236}">
                <a16:creationId xmlns:a16="http://schemas.microsoft.com/office/drawing/2014/main" id="{10AA434B-AC32-9B4F-9494-3FAB0DE9A80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A7915C4-1E7C-7906-2780-275A6F09198D}"/>
              </a:ext>
            </a:extLst>
          </p:cNvPr>
          <p:cNvSpPr>
            <a:spLocks noGrp="1"/>
          </p:cNvSpPr>
          <p:nvPr>
            <p:ph type="sldNum" sz="quarter" idx="12"/>
          </p:nvPr>
        </p:nvSpPr>
        <p:spPr/>
        <p:txBody>
          <a:bodyPr/>
          <a:lstStyle/>
          <a:p>
            <a:fld id="{8BB99B7D-679A-487F-8918-E4533E0325F9}" type="slidenum">
              <a:rPr lang="pt-BR" smtClean="0"/>
              <a:t>‹nº›</a:t>
            </a:fld>
            <a:endParaRPr lang="pt-BR"/>
          </a:p>
        </p:txBody>
      </p:sp>
    </p:spTree>
    <p:extLst>
      <p:ext uri="{BB962C8B-B14F-4D97-AF65-F5344CB8AC3E}">
        <p14:creationId xmlns:p14="http://schemas.microsoft.com/office/powerpoint/2010/main" val="148812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21638575-A66B-EF3A-EB58-402427D94F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C7893BF-14C2-F94B-1FA8-C1163E9B4E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DE8208E-9446-DA06-186E-6B8BB9F74E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789E35-A8E4-4AAA-A09F-315CD9FF33D0}" type="datetimeFigureOut">
              <a:rPr lang="pt-BR" smtClean="0"/>
              <a:t>20/03/2024</a:t>
            </a:fld>
            <a:endParaRPr lang="pt-BR"/>
          </a:p>
        </p:txBody>
      </p:sp>
      <p:sp>
        <p:nvSpPr>
          <p:cNvPr id="5" name="Espaço Reservado para Rodapé 4">
            <a:extLst>
              <a:ext uri="{FF2B5EF4-FFF2-40B4-BE49-F238E27FC236}">
                <a16:creationId xmlns:a16="http://schemas.microsoft.com/office/drawing/2014/main" id="{3439112D-FA1E-5628-BCC4-A47FC96FDC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C15878E9-CC67-6167-E5FD-578E6256E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B99B7D-679A-487F-8918-E4533E0325F9}" type="slidenum">
              <a:rPr lang="pt-BR" smtClean="0"/>
              <a:t>‹nº›</a:t>
            </a:fld>
            <a:endParaRPr lang="pt-BR"/>
          </a:p>
        </p:txBody>
      </p:sp>
    </p:spTree>
    <p:extLst>
      <p:ext uri="{BB962C8B-B14F-4D97-AF65-F5344CB8AC3E}">
        <p14:creationId xmlns:p14="http://schemas.microsoft.com/office/powerpoint/2010/main" val="3485306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opservices.com.br/como-calcular-o-roi-em-projetos-de-ti/"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5A65BCD-4538-4FD8-892D-EDFAD0E3696C}"/>
              </a:ext>
            </a:extLst>
          </p:cNvPr>
          <p:cNvSpPr/>
          <p:nvPr/>
        </p:nvSpPr>
        <p:spPr>
          <a:xfrm>
            <a:off x="4419282" y="744415"/>
            <a:ext cx="2816540" cy="369332"/>
          </a:xfrm>
          <a:prstGeom prst="rect">
            <a:avLst/>
          </a:prstGeom>
        </p:spPr>
        <p:txBody>
          <a:bodyPr wrap="none">
            <a:spAutoFit/>
          </a:bodyPr>
          <a:lstStyle/>
          <a:p>
            <a:r>
              <a:rPr lang="pt-BR" b="1" dirty="0">
                <a:solidFill>
                  <a:srgbClr val="00C1B3"/>
                </a:solidFill>
                <a:latin typeface="Barlow"/>
              </a:rPr>
              <a:t>Fórmula para calcular o ROI</a:t>
            </a:r>
            <a:endParaRPr lang="pt-BR" b="0" i="0" dirty="0">
              <a:solidFill>
                <a:srgbClr val="00C1B3"/>
              </a:solidFill>
              <a:effectLst/>
              <a:latin typeface="Barlow"/>
            </a:endParaRPr>
          </a:p>
        </p:txBody>
      </p:sp>
      <p:pic>
        <p:nvPicPr>
          <p:cNvPr id="5" name="Imagem 4">
            <a:extLst>
              <a:ext uri="{FF2B5EF4-FFF2-40B4-BE49-F238E27FC236}">
                <a16:creationId xmlns:a16="http://schemas.microsoft.com/office/drawing/2014/main" id="{A20AC8B3-C0F8-4056-A327-815427217CF1}"/>
              </a:ext>
            </a:extLst>
          </p:cNvPr>
          <p:cNvPicPr>
            <a:picLocks noChangeAspect="1"/>
          </p:cNvPicPr>
          <p:nvPr/>
        </p:nvPicPr>
        <p:blipFill>
          <a:blip r:embed="rId2"/>
          <a:stretch>
            <a:fillRect/>
          </a:stretch>
        </p:blipFill>
        <p:spPr>
          <a:xfrm>
            <a:off x="3443287" y="2871787"/>
            <a:ext cx="5305425" cy="1114425"/>
          </a:xfrm>
          <a:prstGeom prst="rect">
            <a:avLst/>
          </a:prstGeom>
        </p:spPr>
      </p:pic>
    </p:spTree>
    <p:extLst>
      <p:ext uri="{BB962C8B-B14F-4D97-AF65-F5344CB8AC3E}">
        <p14:creationId xmlns:p14="http://schemas.microsoft.com/office/powerpoint/2010/main" val="431714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E830999D-2ED7-455A-B140-2DC6C6B7AB31}"/>
              </a:ext>
            </a:extLst>
          </p:cNvPr>
          <p:cNvSpPr/>
          <p:nvPr/>
        </p:nvSpPr>
        <p:spPr>
          <a:xfrm>
            <a:off x="0" y="2098670"/>
            <a:ext cx="5658501" cy="3139321"/>
          </a:xfrm>
          <a:prstGeom prst="rect">
            <a:avLst/>
          </a:prstGeom>
        </p:spPr>
        <p:txBody>
          <a:bodyPr wrap="square">
            <a:spAutoFit/>
          </a:bodyPr>
          <a:lstStyle/>
          <a:p>
            <a:r>
              <a:rPr lang="pt-BR" b="1" dirty="0">
                <a:solidFill>
                  <a:srgbClr val="2E3950"/>
                </a:solidFill>
                <a:latin typeface="Barlow"/>
              </a:rPr>
              <a:t>Exemplo do cálculo do ROI</a:t>
            </a:r>
            <a:endParaRPr lang="pt-BR" dirty="0">
              <a:solidFill>
                <a:srgbClr val="2E3950"/>
              </a:solidFill>
              <a:latin typeface="Barlow"/>
            </a:endParaRPr>
          </a:p>
          <a:p>
            <a:pPr algn="just"/>
            <a:endParaRPr lang="pt-BR" dirty="0">
              <a:solidFill>
                <a:srgbClr val="2E3950"/>
              </a:solidFill>
              <a:latin typeface="Barlow"/>
            </a:endParaRPr>
          </a:p>
          <a:p>
            <a:pPr algn="just"/>
            <a:r>
              <a:rPr lang="pt-BR" dirty="0">
                <a:solidFill>
                  <a:srgbClr val="2E3950"/>
                </a:solidFill>
                <a:latin typeface="Barlow"/>
              </a:rPr>
              <a:t>Digamos que o projeto da sua empresa seja a implementação de um software de gestão de projetos para facilitar a rotina do time e aumentar a produtividade da empresa. Com esta ação, espera-se um aumento de receita de </a:t>
            </a:r>
            <a:r>
              <a:rPr lang="pt-BR" b="1" dirty="0">
                <a:solidFill>
                  <a:srgbClr val="2E3950"/>
                </a:solidFill>
                <a:latin typeface="Barlow"/>
              </a:rPr>
              <a:t>R$80.000 </a:t>
            </a:r>
            <a:r>
              <a:rPr lang="pt-BR" dirty="0">
                <a:solidFill>
                  <a:srgbClr val="2E3950"/>
                </a:solidFill>
                <a:latin typeface="Barlow"/>
              </a:rPr>
              <a:t>no ano.</a:t>
            </a:r>
          </a:p>
          <a:p>
            <a:pPr algn="just"/>
            <a:endParaRPr lang="pt-BR" dirty="0">
              <a:solidFill>
                <a:srgbClr val="2E3950"/>
              </a:solidFill>
              <a:latin typeface="Barlow"/>
            </a:endParaRPr>
          </a:p>
          <a:p>
            <a:pPr algn="just"/>
            <a:r>
              <a:rPr lang="pt-BR" dirty="0">
                <a:solidFill>
                  <a:srgbClr val="2E3950"/>
                </a:solidFill>
                <a:latin typeface="Barlow"/>
              </a:rPr>
              <a:t>Para implementar este software, a empresa teria um gasto mensal de </a:t>
            </a:r>
            <a:r>
              <a:rPr lang="pt-BR" b="1" dirty="0">
                <a:solidFill>
                  <a:srgbClr val="2E3950"/>
                </a:solidFill>
                <a:latin typeface="Barlow"/>
              </a:rPr>
              <a:t>R$4.200, </a:t>
            </a:r>
            <a:r>
              <a:rPr lang="pt-BR" dirty="0">
                <a:solidFill>
                  <a:srgbClr val="2E3950"/>
                </a:solidFill>
                <a:latin typeface="Barlow"/>
              </a:rPr>
              <a:t>tendo uma despesa extra de </a:t>
            </a:r>
            <a:r>
              <a:rPr lang="pt-BR" b="1" dirty="0">
                <a:solidFill>
                  <a:srgbClr val="2E3950"/>
                </a:solidFill>
                <a:latin typeface="Barlow"/>
              </a:rPr>
              <a:t>R$10.000 </a:t>
            </a:r>
            <a:r>
              <a:rPr lang="pt-BR" dirty="0">
                <a:solidFill>
                  <a:srgbClr val="2E3950"/>
                </a:solidFill>
                <a:latin typeface="Barlow"/>
              </a:rPr>
              <a:t>com a manutenção de alguns computadores.</a:t>
            </a:r>
            <a:endParaRPr lang="pt-BR" b="0" i="0" dirty="0">
              <a:solidFill>
                <a:srgbClr val="2E3950"/>
              </a:solidFill>
              <a:effectLst/>
              <a:latin typeface="Barlow"/>
            </a:endParaRPr>
          </a:p>
        </p:txBody>
      </p:sp>
      <p:pic>
        <p:nvPicPr>
          <p:cNvPr id="3" name="Imagem 2">
            <a:extLst>
              <a:ext uri="{FF2B5EF4-FFF2-40B4-BE49-F238E27FC236}">
                <a16:creationId xmlns:a16="http://schemas.microsoft.com/office/drawing/2014/main" id="{45C89880-EFA8-4C96-8439-5EDE8A73D512}"/>
              </a:ext>
            </a:extLst>
          </p:cNvPr>
          <p:cNvPicPr>
            <a:picLocks noChangeAspect="1"/>
          </p:cNvPicPr>
          <p:nvPr/>
        </p:nvPicPr>
        <p:blipFill>
          <a:blip r:embed="rId2"/>
          <a:stretch>
            <a:fillRect/>
          </a:stretch>
        </p:blipFill>
        <p:spPr>
          <a:xfrm>
            <a:off x="5658501" y="0"/>
            <a:ext cx="6533499" cy="5528345"/>
          </a:xfrm>
          <a:prstGeom prst="rect">
            <a:avLst/>
          </a:prstGeom>
        </p:spPr>
      </p:pic>
    </p:spTree>
    <p:extLst>
      <p:ext uri="{BB962C8B-B14F-4D97-AF65-F5344CB8AC3E}">
        <p14:creationId xmlns:p14="http://schemas.microsoft.com/office/powerpoint/2010/main" val="45350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28B481BD-2A4C-845D-08BF-28D511CD752D}"/>
              </a:ext>
            </a:extLst>
          </p:cNvPr>
          <p:cNvSpPr txBox="1"/>
          <p:nvPr/>
        </p:nvSpPr>
        <p:spPr>
          <a:xfrm>
            <a:off x="436563" y="2349366"/>
            <a:ext cx="11448288" cy="3970318"/>
          </a:xfrm>
          <a:prstGeom prst="rect">
            <a:avLst/>
          </a:prstGeom>
          <a:noFill/>
        </p:spPr>
        <p:txBody>
          <a:bodyPr wrap="square">
            <a:spAutoFit/>
          </a:bodyPr>
          <a:lstStyle/>
          <a:p>
            <a:pPr algn="l" fontAlgn="base"/>
            <a:r>
              <a:rPr lang="pt-BR" b="1" i="0" dirty="0">
                <a:solidFill>
                  <a:srgbClr val="000000"/>
                </a:solidFill>
                <a:effectLst/>
                <a:latin typeface="Open Sans" panose="020B0606030504020204" pitchFamily="34" charset="0"/>
              </a:rPr>
              <a:t>CASO 1</a:t>
            </a:r>
          </a:p>
          <a:p>
            <a:pPr algn="l" fontAlgn="base"/>
            <a:endParaRPr lang="pt-BR" b="0" i="0" dirty="0">
              <a:solidFill>
                <a:srgbClr val="444444"/>
              </a:solidFill>
              <a:effectLst/>
              <a:latin typeface="Open Sans" panose="020B0606030504020204" pitchFamily="34" charset="0"/>
            </a:endParaRPr>
          </a:p>
          <a:p>
            <a:pPr algn="just" fontAlgn="base"/>
            <a:r>
              <a:rPr lang="pt-BR" dirty="0">
                <a:solidFill>
                  <a:srgbClr val="444444"/>
                </a:solidFill>
                <a:latin typeface="Open Sans" panose="020B0606030504020204" pitchFamily="34" charset="0"/>
              </a:rPr>
              <a:t>	</a:t>
            </a:r>
            <a:r>
              <a:rPr lang="pt-BR" b="0" i="0" dirty="0">
                <a:solidFill>
                  <a:srgbClr val="444444"/>
                </a:solidFill>
                <a:effectLst/>
                <a:latin typeface="Open Sans" panose="020B0606030504020204" pitchFamily="34" charset="0"/>
              </a:rPr>
              <a:t>Digamos que em uma equipe com 6 gestores tentando resolver um incidente demore 30 minutos para achar a sua causa-raiz. Normalmente uma área é responsável pelo problema e, neste caso, os outros 5 perdem tempo, pois a falha não têm origem nas suas áreas. Se uma empresa pega uma média de R$5.000,00 por funcionário (gestor), o custo real pago com os encargos ficaria torno de R$10.000,00. O custo/hora de cada funcionário é de R$56,00. Cinco funcionários vezes 56 é igual a R$280,00/hora.</a:t>
            </a:r>
          </a:p>
          <a:p>
            <a:pPr algn="just" fontAlgn="base"/>
            <a:endParaRPr lang="pt-BR" b="0" i="0" dirty="0">
              <a:solidFill>
                <a:srgbClr val="444444"/>
              </a:solidFill>
              <a:effectLst/>
              <a:latin typeface="Open Sans" panose="020B0606030504020204" pitchFamily="34" charset="0"/>
            </a:endParaRPr>
          </a:p>
          <a:p>
            <a:pPr algn="just" fontAlgn="base"/>
            <a:r>
              <a:rPr lang="pt-BR" b="0" i="0" dirty="0">
                <a:solidFill>
                  <a:srgbClr val="444444"/>
                </a:solidFill>
                <a:effectLst/>
                <a:latin typeface="Open Sans" panose="020B0606030504020204" pitchFamily="34" charset="0"/>
              </a:rPr>
              <a:t>	Se em um ano tivermos 60 horas de indisponibilidade de sistemas deste tipo, só com os funcionários de TI, temos um prejuízo de R$17.000,00. Se o sistema afetar, por exemplo, um </a:t>
            </a:r>
            <a:r>
              <a:rPr lang="pt-BR" b="0" i="0" dirty="0" err="1">
                <a:solidFill>
                  <a:srgbClr val="444444"/>
                </a:solidFill>
                <a:effectLst/>
                <a:latin typeface="Open Sans" panose="020B0606030504020204" pitchFamily="34" charset="0"/>
              </a:rPr>
              <a:t>callcenter</a:t>
            </a:r>
            <a:r>
              <a:rPr lang="pt-BR" b="0" i="0" dirty="0">
                <a:solidFill>
                  <a:srgbClr val="444444"/>
                </a:solidFill>
                <a:effectLst/>
                <a:latin typeface="Open Sans" panose="020B0606030504020204" pitchFamily="34" charset="0"/>
              </a:rPr>
              <a:t>, com 300 posições de atendimento com salário + encargos no valor de R$3mil, são mais R$306mil de prejuízo. Poderíamos ainda colocar outros custos associados como luz, água e aluguel do espaço, mas aí sairia mais de R$500mil reais em um ano.</a:t>
            </a:r>
          </a:p>
        </p:txBody>
      </p:sp>
      <p:sp>
        <p:nvSpPr>
          <p:cNvPr id="2" name="Retângulo 1">
            <a:extLst>
              <a:ext uri="{FF2B5EF4-FFF2-40B4-BE49-F238E27FC236}">
                <a16:creationId xmlns:a16="http://schemas.microsoft.com/office/drawing/2014/main" id="{ABD06A89-B732-4870-BF38-8279607111E8}"/>
              </a:ext>
            </a:extLst>
          </p:cNvPr>
          <p:cNvSpPr/>
          <p:nvPr/>
        </p:nvSpPr>
        <p:spPr>
          <a:xfrm>
            <a:off x="2326546" y="882752"/>
            <a:ext cx="8277138" cy="369332"/>
          </a:xfrm>
          <a:prstGeom prst="rect">
            <a:avLst/>
          </a:prstGeom>
        </p:spPr>
        <p:txBody>
          <a:bodyPr wrap="square">
            <a:spAutoFit/>
          </a:bodyPr>
          <a:lstStyle/>
          <a:p>
            <a:r>
              <a:rPr lang="pt-BR" dirty="0">
                <a:hlinkClick r:id="rId2"/>
              </a:rPr>
              <a:t>https://www.opservices.com.br/como-calcular-o-roi-em-projetos-de-ti/</a:t>
            </a:r>
            <a:r>
              <a:rPr lang="pt-BR" dirty="0"/>
              <a:t> </a:t>
            </a:r>
          </a:p>
        </p:txBody>
      </p:sp>
    </p:spTree>
    <p:extLst>
      <p:ext uri="{BB962C8B-B14F-4D97-AF65-F5344CB8AC3E}">
        <p14:creationId xmlns:p14="http://schemas.microsoft.com/office/powerpoint/2010/main" val="2685724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257E6C92-7C4B-E220-2FDC-56655609B799}"/>
              </a:ext>
            </a:extLst>
          </p:cNvPr>
          <p:cNvSpPr txBox="1"/>
          <p:nvPr/>
        </p:nvSpPr>
        <p:spPr>
          <a:xfrm>
            <a:off x="124968" y="430840"/>
            <a:ext cx="11942064" cy="5355312"/>
          </a:xfrm>
          <a:prstGeom prst="rect">
            <a:avLst/>
          </a:prstGeom>
          <a:noFill/>
        </p:spPr>
        <p:txBody>
          <a:bodyPr wrap="square">
            <a:spAutoFit/>
          </a:bodyPr>
          <a:lstStyle/>
          <a:p>
            <a:pPr algn="just" fontAlgn="base"/>
            <a:r>
              <a:rPr lang="pt-BR" b="1" i="0" dirty="0">
                <a:solidFill>
                  <a:srgbClr val="000000"/>
                </a:solidFill>
                <a:effectLst/>
                <a:latin typeface="Open Sans" panose="020B0606030504020204" pitchFamily="34" charset="0"/>
              </a:rPr>
              <a:t>CASO 2</a:t>
            </a:r>
          </a:p>
          <a:p>
            <a:pPr algn="just" fontAlgn="base"/>
            <a:r>
              <a:rPr lang="pt-BR" b="0" i="0" dirty="0">
                <a:solidFill>
                  <a:srgbClr val="444444"/>
                </a:solidFill>
                <a:effectLst/>
                <a:latin typeface="Open Sans" panose="020B0606030504020204" pitchFamily="34" charset="0"/>
              </a:rPr>
              <a:t>	Uma empresa aluga uma licença de um software de </a:t>
            </a:r>
            <a:r>
              <a:rPr lang="pt-BR" b="0" i="0" dirty="0" err="1">
                <a:solidFill>
                  <a:srgbClr val="444444"/>
                </a:solidFill>
                <a:effectLst/>
                <a:latin typeface="Open Sans" panose="020B0606030504020204" pitchFamily="34" charset="0"/>
              </a:rPr>
              <a:t>service</a:t>
            </a:r>
            <a:r>
              <a:rPr lang="pt-BR" b="0" i="0" dirty="0">
                <a:solidFill>
                  <a:srgbClr val="444444"/>
                </a:solidFill>
                <a:effectLst/>
                <a:latin typeface="Open Sans" panose="020B0606030504020204" pitchFamily="34" charset="0"/>
              </a:rPr>
              <a:t> </a:t>
            </a:r>
            <a:r>
              <a:rPr lang="pt-BR" b="0" i="0" dirty="0" err="1">
                <a:solidFill>
                  <a:srgbClr val="444444"/>
                </a:solidFill>
                <a:effectLst/>
                <a:latin typeface="Open Sans" panose="020B0606030504020204" pitchFamily="34" charset="0"/>
              </a:rPr>
              <a:t>desk</a:t>
            </a:r>
            <a:r>
              <a:rPr lang="pt-BR" b="0" i="0" dirty="0">
                <a:solidFill>
                  <a:srgbClr val="444444"/>
                </a:solidFill>
                <a:effectLst/>
                <a:latin typeface="Open Sans" panose="020B0606030504020204" pitchFamily="34" charset="0"/>
              </a:rPr>
              <a:t>. Um valor X é pago mensalmente e, neste exemplo, o contrato pode ser encerrado a qualquer momento sem nenhum tipo de multa. Surge no mercado uma oferta concorrente que se assemelha muito a solução atual em termos de recursos, porém ela permite a compra da licença a um custo de 12X. Ou seja, é necessário um investimento que representa 12 meses de aluguel de licença para adquirir a nova solução.</a:t>
            </a:r>
          </a:p>
          <a:p>
            <a:pPr algn="just" fontAlgn="base"/>
            <a:endParaRPr lang="pt-BR" b="0" i="0" dirty="0">
              <a:solidFill>
                <a:srgbClr val="444444"/>
              </a:solidFill>
              <a:effectLst/>
              <a:latin typeface="Open Sans" panose="020B0606030504020204" pitchFamily="34" charset="0"/>
            </a:endParaRPr>
          </a:p>
          <a:p>
            <a:pPr algn="just" fontAlgn="base"/>
            <a:r>
              <a:rPr lang="pt-BR" dirty="0">
                <a:solidFill>
                  <a:srgbClr val="444444"/>
                </a:solidFill>
                <a:latin typeface="Open Sans" panose="020B0606030504020204" pitchFamily="34" charset="0"/>
              </a:rPr>
              <a:t>	</a:t>
            </a:r>
            <a:r>
              <a:rPr lang="pt-BR" b="0" i="0" dirty="0">
                <a:solidFill>
                  <a:srgbClr val="444444"/>
                </a:solidFill>
                <a:effectLst/>
                <a:latin typeface="Open Sans" panose="020B0606030504020204" pitchFamily="34" charset="0"/>
              </a:rPr>
              <a:t>Após este período não será pago mais nada. Para se tomar uma decisão sobre a viabilidade deste projeto é preciso pensar em diversos fatores como curva de aprendizado e problemas operacionais devido à essa troca. O decisor precisa então atribuir valores para esses processos para poder calcular o retorno do investimento. Digamos que seja atribuído 5X à curva de aprendizado e 2X à projeção de problemas na operação na fase de implantação. Neste exemplo, o retorno do investimento é em 19 meses (12X+5X+2X=19X), sendo que 12 meses serão pagos à vista.</a:t>
            </a:r>
          </a:p>
          <a:p>
            <a:pPr algn="just" fontAlgn="base"/>
            <a:endParaRPr lang="pt-BR" b="0" i="0" dirty="0">
              <a:solidFill>
                <a:srgbClr val="444444"/>
              </a:solidFill>
              <a:effectLst/>
              <a:latin typeface="Open Sans" panose="020B0606030504020204" pitchFamily="34" charset="0"/>
            </a:endParaRPr>
          </a:p>
          <a:p>
            <a:pPr algn="just" fontAlgn="base"/>
            <a:r>
              <a:rPr lang="pt-BR" dirty="0">
                <a:solidFill>
                  <a:srgbClr val="444444"/>
                </a:solidFill>
                <a:latin typeface="Open Sans" panose="020B0606030504020204" pitchFamily="34" charset="0"/>
              </a:rPr>
              <a:t>	</a:t>
            </a:r>
            <a:r>
              <a:rPr lang="pt-BR" b="0" i="0" dirty="0">
                <a:solidFill>
                  <a:srgbClr val="444444"/>
                </a:solidFill>
                <a:effectLst/>
                <a:latin typeface="Open Sans" panose="020B0606030504020204" pitchFamily="34" charset="0"/>
              </a:rPr>
              <a:t>O decisor precisa estudar se o investimento de 12 meses de aluguel pagos à vista mais o custo com curva de aprendizado e problemas temporários na operação compensam essa troca. Ainda deve-se olhar para o mercado e fazer uma análise se, ao final deste período, a solução não estará defasada. Como o mercado de TI é muito dinâmico geralmente esse não é um bom negócio, principalmente porque a nova solução não apresenta ganhos significativos se comparados com a atual.</a:t>
            </a:r>
          </a:p>
        </p:txBody>
      </p:sp>
    </p:spTree>
    <p:extLst>
      <p:ext uri="{BB962C8B-B14F-4D97-AF65-F5344CB8AC3E}">
        <p14:creationId xmlns:p14="http://schemas.microsoft.com/office/powerpoint/2010/main" val="4185907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C4A330C2-97B8-A67C-D139-FE24854AE80F}"/>
              </a:ext>
            </a:extLst>
          </p:cNvPr>
          <p:cNvSpPr txBox="1"/>
          <p:nvPr/>
        </p:nvSpPr>
        <p:spPr>
          <a:xfrm>
            <a:off x="73152" y="394692"/>
            <a:ext cx="11777472" cy="6463308"/>
          </a:xfrm>
          <a:prstGeom prst="rect">
            <a:avLst/>
          </a:prstGeom>
          <a:noFill/>
        </p:spPr>
        <p:txBody>
          <a:bodyPr wrap="square">
            <a:spAutoFit/>
          </a:bodyPr>
          <a:lstStyle/>
          <a:p>
            <a:pPr algn="just" fontAlgn="base"/>
            <a:r>
              <a:rPr lang="pt-BR" b="1" i="0" dirty="0">
                <a:solidFill>
                  <a:srgbClr val="000000"/>
                </a:solidFill>
                <a:effectLst/>
                <a:latin typeface="Open Sans" panose="020B0606030504020204" pitchFamily="34" charset="0"/>
              </a:rPr>
              <a:t>CASO 3</a:t>
            </a:r>
          </a:p>
          <a:p>
            <a:pPr algn="just" fontAlgn="base"/>
            <a:r>
              <a:rPr lang="pt-BR" b="0" i="0" dirty="0">
                <a:solidFill>
                  <a:srgbClr val="444444"/>
                </a:solidFill>
                <a:effectLst/>
                <a:latin typeface="Open Sans" panose="020B0606030504020204" pitchFamily="34" charset="0"/>
              </a:rPr>
              <a:t>	Uma grande empresa utiliza um software livre para gerenciamento de TI e não possui nenhum custo com aluguel de licenças. A solução atende bem e cumpre seu papel, porém, em um ano, já gastou em torno R$60.000,00 em customizações para deixar o software adequado às especificidades da sua operação. Ainda há um custo anual com um profissional dedicado de R$50 mil. Ou seja, em um ano o custo da solução open </a:t>
            </a:r>
            <a:r>
              <a:rPr lang="pt-BR" b="0" i="0" dirty="0" err="1">
                <a:solidFill>
                  <a:srgbClr val="444444"/>
                </a:solidFill>
                <a:effectLst/>
                <a:latin typeface="Open Sans" panose="020B0606030504020204" pitchFamily="34" charset="0"/>
              </a:rPr>
              <a:t>source</a:t>
            </a:r>
            <a:r>
              <a:rPr lang="pt-BR" b="0" i="0" dirty="0">
                <a:solidFill>
                  <a:srgbClr val="444444"/>
                </a:solidFill>
                <a:effectLst/>
                <a:latin typeface="Open Sans" panose="020B0606030504020204" pitchFamily="34" charset="0"/>
              </a:rPr>
              <a:t> foi de R$110.000,00 (60k + 50k).</a:t>
            </a:r>
          </a:p>
          <a:p>
            <a:pPr algn="just" fontAlgn="base"/>
            <a:endParaRPr lang="pt-BR" b="0" i="0" dirty="0">
              <a:solidFill>
                <a:srgbClr val="444444"/>
              </a:solidFill>
              <a:effectLst/>
              <a:latin typeface="Open Sans" panose="020B0606030504020204" pitchFamily="34" charset="0"/>
            </a:endParaRPr>
          </a:p>
          <a:p>
            <a:pPr algn="just" fontAlgn="base"/>
            <a:r>
              <a:rPr lang="pt-BR" dirty="0">
                <a:solidFill>
                  <a:srgbClr val="444444"/>
                </a:solidFill>
                <a:latin typeface="Open Sans" panose="020B0606030504020204" pitchFamily="34" charset="0"/>
              </a:rPr>
              <a:t>	</a:t>
            </a:r>
            <a:r>
              <a:rPr lang="pt-BR" b="0" i="0" dirty="0">
                <a:solidFill>
                  <a:srgbClr val="444444"/>
                </a:solidFill>
                <a:effectLst/>
                <a:latin typeface="Open Sans" panose="020B0606030504020204" pitchFamily="34" charset="0"/>
              </a:rPr>
              <a:t>Uma empresa que fabrica software para gerenciamento de TI oferece para o CIO desta grande empresa uma solução mais robusta, com recursos mais eficientes e que ainda traz uma visão de processos negócio, o que adicionaria valor agregado aos serviços de TI. A oferta ainda inclui a administração da solução como serviço. Ou seja, a empresa não precisaria de um profissional dedicado à operação da solução, que, a partir de agora, será responsabilidade do fornecedor contratado. O custo mensal disso é de R$6 mil mais um investimento inicial de R$25 mil, pagos à vista, referentes à implantação e treinamento. Em termos de recursos, há um ganho com a solução de mercado e não existe a necessidade de novas customizações. Será que vale a pena esse investimento?</a:t>
            </a:r>
          </a:p>
          <a:p>
            <a:pPr algn="just" fontAlgn="base"/>
            <a:r>
              <a:rPr lang="pt-BR" b="0" i="0" dirty="0">
                <a:solidFill>
                  <a:srgbClr val="444444"/>
                </a:solidFill>
                <a:effectLst/>
                <a:latin typeface="Open Sans" panose="020B0606030504020204" pitchFamily="34" charset="0"/>
              </a:rPr>
              <a:t>	Vamos pensar: a solução open-</a:t>
            </a:r>
            <a:r>
              <a:rPr lang="pt-BR" b="0" i="0" dirty="0" err="1">
                <a:solidFill>
                  <a:srgbClr val="444444"/>
                </a:solidFill>
                <a:effectLst/>
                <a:latin typeface="Open Sans" panose="020B0606030504020204" pitchFamily="34" charset="0"/>
              </a:rPr>
              <a:t>source</a:t>
            </a:r>
            <a:r>
              <a:rPr lang="pt-BR" b="0" i="0" dirty="0">
                <a:solidFill>
                  <a:srgbClr val="444444"/>
                </a:solidFill>
                <a:effectLst/>
                <a:latin typeface="Open Sans" panose="020B0606030504020204" pitchFamily="34" charset="0"/>
              </a:rPr>
              <a:t> tem um valor real de R$110.000,00/ano, o que representa um valor mensal médio de R$9.160,00. A nova solução custa R$25 mil à vista mais R$6 mil/mês. Isso representa um investimento no primeiro ano de R$97 mil e de R$72 mil nos anos seguintes. Ou seja, o retorno do investimento nos primeiros 12 meses será de R$13.000,00 (110k – 97k = 13k). Em dois anos esse retorno será de R$51.000,00 visto que não será mais pago o valor de implantação nos anos seguintes. Neste cenário a opção de aquisição da nova solução parece bastante vantajosa, pois, além dos ganhos financeiros, ainda teríamos um ganho operacional com os novos recursos. Outro diferencial seria ter uma empresa especialista no assunto se dedicando ao gerenciamento, o que permitiria à empresa se focar no próprio negócio.</a:t>
            </a:r>
          </a:p>
        </p:txBody>
      </p:sp>
    </p:spTree>
    <p:extLst>
      <p:ext uri="{BB962C8B-B14F-4D97-AF65-F5344CB8AC3E}">
        <p14:creationId xmlns:p14="http://schemas.microsoft.com/office/powerpoint/2010/main" val="3012189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B1D1822F-0756-0809-C8DB-71C9CCFE116A}"/>
              </a:ext>
            </a:extLst>
          </p:cNvPr>
          <p:cNvSpPr>
            <a:spLocks noGrp="1"/>
          </p:cNvSpPr>
          <p:nvPr>
            <p:ph idx="1"/>
          </p:nvPr>
        </p:nvSpPr>
        <p:spPr/>
        <p:txBody>
          <a:bodyPr/>
          <a:lstStyle/>
          <a:p>
            <a:pPr marL="0" indent="0">
              <a:buNone/>
            </a:pPr>
            <a:br>
              <a:rPr lang="pt-BR" dirty="0"/>
            </a:br>
            <a:r>
              <a:rPr lang="pt-BR" b="0" i="0" dirty="0">
                <a:solidFill>
                  <a:srgbClr val="263238"/>
                </a:solidFill>
                <a:effectLst/>
                <a:latin typeface="Open Sans" panose="020B0606030504020204" pitchFamily="34" charset="0"/>
              </a:rPr>
              <a:t>ROI = (lucro do investimento – custo do investimento) / custo do investimento x 100, resultado em um ganho percentual.</a:t>
            </a:r>
          </a:p>
          <a:p>
            <a:pPr marL="0" indent="0">
              <a:buNone/>
            </a:pPr>
            <a:endParaRPr lang="pt-BR" dirty="0">
              <a:solidFill>
                <a:srgbClr val="263238"/>
              </a:solidFill>
              <a:latin typeface="Open Sans" panose="020B0606030504020204" pitchFamily="34" charset="0"/>
            </a:endParaRPr>
          </a:p>
          <a:p>
            <a:pPr marL="0" indent="0" algn="l">
              <a:buNone/>
            </a:pPr>
            <a:r>
              <a:rPr lang="pt-BR" b="0" i="0" dirty="0">
                <a:solidFill>
                  <a:srgbClr val="282829"/>
                </a:solidFill>
                <a:effectLst/>
                <a:latin typeface="roboto" panose="02000000000000000000" pitchFamily="2" charset="0"/>
              </a:rPr>
              <a:t>((receita – custo)/custo) * 100 = ROI.</a:t>
            </a:r>
          </a:p>
          <a:p>
            <a:pPr marL="0" indent="0" algn="l">
              <a:buNone/>
            </a:pPr>
            <a:endParaRPr lang="pt-BR" b="0" i="0" dirty="0">
              <a:solidFill>
                <a:srgbClr val="282829"/>
              </a:solidFill>
              <a:effectLst/>
              <a:latin typeface="roboto" panose="02000000000000000000" pitchFamily="2" charset="0"/>
            </a:endParaRPr>
          </a:p>
          <a:p>
            <a:pPr marL="0" indent="0" algn="l">
              <a:buNone/>
            </a:pPr>
            <a:r>
              <a:rPr lang="pt-BR" b="0" i="0" dirty="0">
                <a:solidFill>
                  <a:srgbClr val="282829"/>
                </a:solidFill>
                <a:effectLst/>
                <a:latin typeface="roboto" panose="02000000000000000000" pitchFamily="2" charset="0"/>
              </a:rPr>
              <a:t>Vamos supor que sua empresa investiu 2 mil reais e teve lucro de 4 mil reais. O cálculo fica assim: ((4000 – 2000)/2000) * 100 = 100%.</a:t>
            </a:r>
          </a:p>
          <a:p>
            <a:pPr marL="0" indent="0">
              <a:buNone/>
            </a:pPr>
            <a:endParaRPr lang="pt-BR" dirty="0"/>
          </a:p>
        </p:txBody>
      </p:sp>
    </p:spTree>
    <p:extLst>
      <p:ext uri="{BB962C8B-B14F-4D97-AF65-F5344CB8AC3E}">
        <p14:creationId xmlns:p14="http://schemas.microsoft.com/office/powerpoint/2010/main" val="182506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0EB99-1762-08A0-24E7-DEF897CF6C29}"/>
              </a:ext>
            </a:extLst>
          </p:cNvPr>
          <p:cNvSpPr>
            <a:spLocks noGrp="1"/>
          </p:cNvSpPr>
          <p:nvPr>
            <p:ph type="title"/>
          </p:nvPr>
        </p:nvSpPr>
        <p:spPr/>
        <p:txBody>
          <a:bodyPr/>
          <a:lstStyle/>
          <a:p>
            <a:r>
              <a:rPr lang="pt-BR" dirty="0"/>
              <a:t>1. CUSTOS COM PROFISSIONAIS ENVOLVIDOS</a:t>
            </a:r>
          </a:p>
        </p:txBody>
      </p:sp>
      <p:sp>
        <p:nvSpPr>
          <p:cNvPr id="3" name="Espaço Reservado para Conteúdo 2">
            <a:extLst>
              <a:ext uri="{FF2B5EF4-FFF2-40B4-BE49-F238E27FC236}">
                <a16:creationId xmlns:a16="http://schemas.microsoft.com/office/drawing/2014/main" id="{A25869CA-3F50-35C4-F635-30E5F7994F9F}"/>
              </a:ext>
            </a:extLst>
          </p:cNvPr>
          <p:cNvSpPr>
            <a:spLocks noGrp="1"/>
          </p:cNvSpPr>
          <p:nvPr>
            <p:ph idx="1"/>
          </p:nvPr>
        </p:nvSpPr>
        <p:spPr>
          <a:xfrm>
            <a:off x="838200" y="3151188"/>
            <a:ext cx="10515600" cy="1420495"/>
          </a:xfrm>
        </p:spPr>
        <p:txBody>
          <a:bodyPr/>
          <a:lstStyle/>
          <a:p>
            <a:r>
              <a:rPr lang="pt-BR" dirty="0"/>
              <a:t>Quando você adquire uma nova solução ou serviço é necessário estimar o número de profissionais envolvidos e as horas dedicadas no projeto</a:t>
            </a:r>
          </a:p>
        </p:txBody>
      </p:sp>
    </p:spTree>
    <p:extLst>
      <p:ext uri="{BB962C8B-B14F-4D97-AF65-F5344CB8AC3E}">
        <p14:creationId xmlns:p14="http://schemas.microsoft.com/office/powerpoint/2010/main" val="1061371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01E84A-19EB-871A-4464-E6E9366FA078}"/>
              </a:ext>
            </a:extLst>
          </p:cNvPr>
          <p:cNvSpPr>
            <a:spLocks noGrp="1"/>
          </p:cNvSpPr>
          <p:nvPr>
            <p:ph type="title"/>
          </p:nvPr>
        </p:nvSpPr>
        <p:spPr/>
        <p:txBody>
          <a:bodyPr/>
          <a:lstStyle/>
          <a:p>
            <a:r>
              <a:rPr lang="pt-BR" dirty="0"/>
              <a:t>2. Serviço ou compra de licença?</a:t>
            </a:r>
          </a:p>
        </p:txBody>
      </p:sp>
      <p:sp>
        <p:nvSpPr>
          <p:cNvPr id="3" name="Espaço Reservado para Conteúdo 2">
            <a:extLst>
              <a:ext uri="{FF2B5EF4-FFF2-40B4-BE49-F238E27FC236}">
                <a16:creationId xmlns:a16="http://schemas.microsoft.com/office/drawing/2014/main" id="{0C006EF6-99BD-049A-FDC1-0E3047CAB10C}"/>
              </a:ext>
            </a:extLst>
          </p:cNvPr>
          <p:cNvSpPr>
            <a:spLocks noGrp="1"/>
          </p:cNvSpPr>
          <p:nvPr>
            <p:ph idx="1"/>
          </p:nvPr>
        </p:nvSpPr>
        <p:spPr/>
        <p:txBody>
          <a:bodyPr/>
          <a:lstStyle/>
          <a:p>
            <a:r>
              <a:rPr lang="pt-BR" dirty="0"/>
              <a:t>As vezes é mais econômico e eficiente terceirizar um serviço para uma empresa especialista no assunto do que adquirir licenças e fazer tudo em “casa”</a:t>
            </a:r>
          </a:p>
        </p:txBody>
      </p:sp>
    </p:spTree>
    <p:extLst>
      <p:ext uri="{BB962C8B-B14F-4D97-AF65-F5344CB8AC3E}">
        <p14:creationId xmlns:p14="http://schemas.microsoft.com/office/powerpoint/2010/main" val="1347498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05ABD3-B7F3-A75C-0C73-C29799069C40}"/>
              </a:ext>
            </a:extLst>
          </p:cNvPr>
          <p:cNvSpPr>
            <a:spLocks noGrp="1"/>
          </p:cNvSpPr>
          <p:nvPr>
            <p:ph type="title"/>
          </p:nvPr>
        </p:nvSpPr>
        <p:spPr/>
        <p:txBody>
          <a:bodyPr/>
          <a:lstStyle/>
          <a:p>
            <a:r>
              <a:rPr lang="pt-BR" dirty="0"/>
              <a:t>3. Curva de aprendizado</a:t>
            </a:r>
          </a:p>
        </p:txBody>
      </p:sp>
      <p:sp>
        <p:nvSpPr>
          <p:cNvPr id="3" name="Espaço Reservado para Conteúdo 2">
            <a:extLst>
              <a:ext uri="{FF2B5EF4-FFF2-40B4-BE49-F238E27FC236}">
                <a16:creationId xmlns:a16="http://schemas.microsoft.com/office/drawing/2014/main" id="{CBE562F9-4F3A-F1F0-703B-77FBED57B3A6}"/>
              </a:ext>
            </a:extLst>
          </p:cNvPr>
          <p:cNvSpPr>
            <a:spLocks noGrp="1"/>
          </p:cNvSpPr>
          <p:nvPr>
            <p:ph idx="1"/>
          </p:nvPr>
        </p:nvSpPr>
        <p:spPr/>
        <p:txBody>
          <a:bodyPr/>
          <a:lstStyle/>
          <a:p>
            <a:r>
              <a:rPr lang="pt-BR" dirty="0"/>
              <a:t>O tempo necessário para dominar um novo processo deve ser transformado em valor: multiplicando o período de aprendizado pelo custo/hora do profissional</a:t>
            </a:r>
          </a:p>
        </p:txBody>
      </p:sp>
    </p:spTree>
    <p:extLst>
      <p:ext uri="{BB962C8B-B14F-4D97-AF65-F5344CB8AC3E}">
        <p14:creationId xmlns:p14="http://schemas.microsoft.com/office/powerpoint/2010/main" val="1470188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3E3D34-A31F-B1A9-15DA-056CAE6D22FD}"/>
              </a:ext>
            </a:extLst>
          </p:cNvPr>
          <p:cNvSpPr>
            <a:spLocks noGrp="1"/>
          </p:cNvSpPr>
          <p:nvPr>
            <p:ph type="title"/>
          </p:nvPr>
        </p:nvSpPr>
        <p:spPr/>
        <p:txBody>
          <a:bodyPr/>
          <a:lstStyle/>
          <a:p>
            <a:r>
              <a:rPr lang="pt-BR" dirty="0"/>
              <a:t>4. Tempo é dinheiro</a:t>
            </a:r>
          </a:p>
        </p:txBody>
      </p:sp>
      <p:sp>
        <p:nvSpPr>
          <p:cNvPr id="3" name="Espaço Reservado para Conteúdo 2">
            <a:extLst>
              <a:ext uri="{FF2B5EF4-FFF2-40B4-BE49-F238E27FC236}">
                <a16:creationId xmlns:a16="http://schemas.microsoft.com/office/drawing/2014/main" id="{D9DC7DC1-C29D-760B-7A45-13FF59B370E5}"/>
              </a:ext>
            </a:extLst>
          </p:cNvPr>
          <p:cNvSpPr>
            <a:spLocks noGrp="1"/>
          </p:cNvSpPr>
          <p:nvPr>
            <p:ph idx="1"/>
          </p:nvPr>
        </p:nvSpPr>
        <p:spPr/>
        <p:txBody>
          <a:bodyPr/>
          <a:lstStyle/>
          <a:p>
            <a:r>
              <a:rPr lang="pt-BR" dirty="0"/>
              <a:t>Todas as horas investidas em um projeto poderiam ser alocadas em outras prioridades. Seu uso deve ser proporcional a sua urgência</a:t>
            </a:r>
          </a:p>
        </p:txBody>
      </p:sp>
    </p:spTree>
    <p:extLst>
      <p:ext uri="{BB962C8B-B14F-4D97-AF65-F5344CB8AC3E}">
        <p14:creationId xmlns:p14="http://schemas.microsoft.com/office/powerpoint/2010/main" val="2765173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21DE7D-5972-B04A-D975-533585F49FD5}"/>
              </a:ext>
            </a:extLst>
          </p:cNvPr>
          <p:cNvSpPr>
            <a:spLocks noGrp="1"/>
          </p:cNvSpPr>
          <p:nvPr>
            <p:ph type="title"/>
          </p:nvPr>
        </p:nvSpPr>
        <p:spPr/>
        <p:txBody>
          <a:bodyPr/>
          <a:lstStyle/>
          <a:p>
            <a:r>
              <a:rPr lang="pt-BR" dirty="0"/>
              <a:t>5. Como a operação será afetada?</a:t>
            </a:r>
          </a:p>
        </p:txBody>
      </p:sp>
      <p:sp>
        <p:nvSpPr>
          <p:cNvPr id="3" name="Espaço Reservado para Conteúdo 2">
            <a:extLst>
              <a:ext uri="{FF2B5EF4-FFF2-40B4-BE49-F238E27FC236}">
                <a16:creationId xmlns:a16="http://schemas.microsoft.com/office/drawing/2014/main" id="{842BF9AD-FAA6-7456-8410-D2C81F2A5A49}"/>
              </a:ext>
            </a:extLst>
          </p:cNvPr>
          <p:cNvSpPr>
            <a:spLocks noGrp="1"/>
          </p:cNvSpPr>
          <p:nvPr>
            <p:ph idx="1"/>
          </p:nvPr>
        </p:nvSpPr>
        <p:spPr/>
        <p:txBody>
          <a:bodyPr/>
          <a:lstStyle/>
          <a:p>
            <a:r>
              <a:rPr lang="pt-BR" dirty="0"/>
              <a:t>O ambiente de TI afeta TODAS as áreas da empresa. É preciso ouvir os decisores das outras áreas para tomar uma decisão assertiva.</a:t>
            </a:r>
          </a:p>
        </p:txBody>
      </p:sp>
    </p:spTree>
    <p:extLst>
      <p:ext uri="{BB962C8B-B14F-4D97-AF65-F5344CB8AC3E}">
        <p14:creationId xmlns:p14="http://schemas.microsoft.com/office/powerpoint/2010/main" val="107625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8631AE-59B1-B434-18FA-B14FC37AB53F}"/>
              </a:ext>
            </a:extLst>
          </p:cNvPr>
          <p:cNvSpPr>
            <a:spLocks noGrp="1"/>
          </p:cNvSpPr>
          <p:nvPr>
            <p:ph type="title"/>
          </p:nvPr>
        </p:nvSpPr>
        <p:spPr/>
        <p:txBody>
          <a:bodyPr/>
          <a:lstStyle/>
          <a:p>
            <a:r>
              <a:rPr lang="pt-BR" dirty="0"/>
              <a:t>6. Obsolescência tecnológica</a:t>
            </a:r>
          </a:p>
        </p:txBody>
      </p:sp>
      <p:sp>
        <p:nvSpPr>
          <p:cNvPr id="3" name="Espaço Reservado para Conteúdo 2">
            <a:extLst>
              <a:ext uri="{FF2B5EF4-FFF2-40B4-BE49-F238E27FC236}">
                <a16:creationId xmlns:a16="http://schemas.microsoft.com/office/drawing/2014/main" id="{B95570A3-588C-693E-FF08-6DBD8765C1B8}"/>
              </a:ext>
            </a:extLst>
          </p:cNvPr>
          <p:cNvSpPr>
            <a:spLocks noGrp="1"/>
          </p:cNvSpPr>
          <p:nvPr>
            <p:ph idx="1"/>
          </p:nvPr>
        </p:nvSpPr>
        <p:spPr/>
        <p:txBody>
          <a:bodyPr/>
          <a:lstStyle/>
          <a:p>
            <a:r>
              <a:rPr lang="pt-BR" dirty="0"/>
              <a:t>As tecnologias possuem um tempo curto de uso. Seus investimentos devem estimar a sua vida útil.</a:t>
            </a:r>
          </a:p>
        </p:txBody>
      </p:sp>
    </p:spTree>
    <p:extLst>
      <p:ext uri="{BB962C8B-B14F-4D97-AF65-F5344CB8AC3E}">
        <p14:creationId xmlns:p14="http://schemas.microsoft.com/office/powerpoint/2010/main" val="2661390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E2D3E9-30FE-3802-5A4E-C6160C32FC8F}"/>
              </a:ext>
            </a:extLst>
          </p:cNvPr>
          <p:cNvSpPr>
            <a:spLocks noGrp="1"/>
          </p:cNvSpPr>
          <p:nvPr>
            <p:ph type="title"/>
          </p:nvPr>
        </p:nvSpPr>
        <p:spPr/>
        <p:txBody>
          <a:bodyPr/>
          <a:lstStyle/>
          <a:p>
            <a:r>
              <a:rPr lang="pt-BR" dirty="0"/>
              <a:t>7. Verificar custos de suporte</a:t>
            </a:r>
          </a:p>
        </p:txBody>
      </p:sp>
      <p:sp>
        <p:nvSpPr>
          <p:cNvPr id="3" name="Espaço Reservado para Conteúdo 2">
            <a:extLst>
              <a:ext uri="{FF2B5EF4-FFF2-40B4-BE49-F238E27FC236}">
                <a16:creationId xmlns:a16="http://schemas.microsoft.com/office/drawing/2014/main" id="{CDC7D04F-441C-5698-E711-6009020498B7}"/>
              </a:ext>
            </a:extLst>
          </p:cNvPr>
          <p:cNvSpPr>
            <a:spLocks noGrp="1"/>
          </p:cNvSpPr>
          <p:nvPr>
            <p:ph idx="1"/>
          </p:nvPr>
        </p:nvSpPr>
        <p:spPr/>
        <p:txBody>
          <a:bodyPr/>
          <a:lstStyle/>
          <a:p>
            <a:r>
              <a:rPr lang="pt-BR" dirty="0"/>
              <a:t>Ao adquirir uma nova solução são necessárias algumas horas de suporte que geralmente são pagas. Leve em consideração esses custos</a:t>
            </a:r>
          </a:p>
        </p:txBody>
      </p:sp>
    </p:spTree>
    <p:extLst>
      <p:ext uri="{BB962C8B-B14F-4D97-AF65-F5344CB8AC3E}">
        <p14:creationId xmlns:p14="http://schemas.microsoft.com/office/powerpoint/2010/main" val="2312848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C194C9-13C6-61C4-E1E9-231D2D39F977}"/>
              </a:ext>
            </a:extLst>
          </p:cNvPr>
          <p:cNvSpPr>
            <a:spLocks noGrp="1"/>
          </p:cNvSpPr>
          <p:nvPr>
            <p:ph type="title"/>
          </p:nvPr>
        </p:nvSpPr>
        <p:spPr/>
        <p:txBody>
          <a:bodyPr/>
          <a:lstStyle/>
          <a:p>
            <a:r>
              <a:rPr lang="pt-BR" dirty="0"/>
              <a:t>8. Gastos com customização</a:t>
            </a:r>
          </a:p>
        </p:txBody>
      </p:sp>
      <p:sp>
        <p:nvSpPr>
          <p:cNvPr id="3" name="Espaço Reservado para Conteúdo 2">
            <a:extLst>
              <a:ext uri="{FF2B5EF4-FFF2-40B4-BE49-F238E27FC236}">
                <a16:creationId xmlns:a16="http://schemas.microsoft.com/office/drawing/2014/main" id="{A26EA759-B036-E7D4-1370-E8CBB9BCBCA6}"/>
              </a:ext>
            </a:extLst>
          </p:cNvPr>
          <p:cNvSpPr>
            <a:spLocks noGrp="1"/>
          </p:cNvSpPr>
          <p:nvPr>
            <p:ph idx="1"/>
          </p:nvPr>
        </p:nvSpPr>
        <p:spPr/>
        <p:txBody>
          <a:bodyPr/>
          <a:lstStyle/>
          <a:p>
            <a:r>
              <a:rPr lang="pt-BR" dirty="0"/>
              <a:t>Cada empresa possui um ambiente específico. Verifica a necessidade de customizações e qual seu custo para adequar uma tecnologia ao seu negócio</a:t>
            </a:r>
          </a:p>
        </p:txBody>
      </p:sp>
    </p:spTree>
    <p:extLst>
      <p:ext uri="{BB962C8B-B14F-4D97-AF65-F5344CB8AC3E}">
        <p14:creationId xmlns:p14="http://schemas.microsoft.com/office/powerpoint/2010/main" val="1612708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7188FC-913A-B743-57A2-774F25ED6411}"/>
              </a:ext>
            </a:extLst>
          </p:cNvPr>
          <p:cNvSpPr>
            <a:spLocks noGrp="1"/>
          </p:cNvSpPr>
          <p:nvPr>
            <p:ph type="title"/>
          </p:nvPr>
        </p:nvSpPr>
        <p:spPr/>
        <p:txBody>
          <a:bodyPr/>
          <a:lstStyle/>
          <a:p>
            <a:r>
              <a:rPr lang="pt-BR" dirty="0"/>
              <a:t>9. Ganho ou perda de produtividade</a:t>
            </a:r>
          </a:p>
        </p:txBody>
      </p:sp>
      <p:sp>
        <p:nvSpPr>
          <p:cNvPr id="3" name="Espaço Reservado para Conteúdo 2">
            <a:extLst>
              <a:ext uri="{FF2B5EF4-FFF2-40B4-BE49-F238E27FC236}">
                <a16:creationId xmlns:a16="http://schemas.microsoft.com/office/drawing/2014/main" id="{7FC5740A-CA59-1F9F-0516-C0BDEB3C12CE}"/>
              </a:ext>
            </a:extLst>
          </p:cNvPr>
          <p:cNvSpPr>
            <a:spLocks noGrp="1"/>
          </p:cNvSpPr>
          <p:nvPr>
            <p:ph idx="1"/>
          </p:nvPr>
        </p:nvSpPr>
        <p:spPr/>
        <p:txBody>
          <a:bodyPr/>
          <a:lstStyle/>
          <a:p>
            <a:r>
              <a:rPr lang="pt-BR" dirty="0"/>
              <a:t>O ganho de produtividade deve sempre ser maior que o valor investido. Se o objetivo é diminuir custos o valor economizado deve ser proporcionalmente maior que a perda</a:t>
            </a:r>
          </a:p>
        </p:txBody>
      </p:sp>
    </p:spTree>
    <p:extLst>
      <p:ext uri="{BB962C8B-B14F-4D97-AF65-F5344CB8AC3E}">
        <p14:creationId xmlns:p14="http://schemas.microsoft.com/office/powerpoint/2010/main" val="1735629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195DC9-D71E-1B88-EF10-317D6A32C349}"/>
              </a:ext>
            </a:extLst>
          </p:cNvPr>
          <p:cNvSpPr>
            <a:spLocks noGrp="1"/>
          </p:cNvSpPr>
          <p:nvPr>
            <p:ph type="title"/>
          </p:nvPr>
        </p:nvSpPr>
        <p:spPr/>
        <p:txBody>
          <a:bodyPr/>
          <a:lstStyle/>
          <a:p>
            <a:r>
              <a:rPr lang="pt-BR" dirty="0"/>
              <a:t>10. Uma sua equipe em torno do projeto</a:t>
            </a:r>
          </a:p>
        </p:txBody>
      </p:sp>
      <p:sp>
        <p:nvSpPr>
          <p:cNvPr id="3" name="Espaço Reservado para Conteúdo 2">
            <a:extLst>
              <a:ext uri="{FF2B5EF4-FFF2-40B4-BE49-F238E27FC236}">
                <a16:creationId xmlns:a16="http://schemas.microsoft.com/office/drawing/2014/main" id="{0B5BC13E-3EAA-B0B4-4D4F-7B0CDE0A6484}"/>
              </a:ext>
            </a:extLst>
          </p:cNvPr>
          <p:cNvSpPr>
            <a:spLocks noGrp="1"/>
          </p:cNvSpPr>
          <p:nvPr>
            <p:ph idx="1"/>
          </p:nvPr>
        </p:nvSpPr>
        <p:spPr/>
        <p:txBody>
          <a:bodyPr/>
          <a:lstStyle/>
          <a:p>
            <a:r>
              <a:rPr lang="pt-BR" dirty="0"/>
              <a:t>Antes de assinar um contrato verifique se a sua equipe está unida. Boicotes internos para uma solução que exija novos conhecimentos são um dos principais causadores de um ROI negativo</a:t>
            </a:r>
          </a:p>
        </p:txBody>
      </p:sp>
    </p:spTree>
    <p:extLst>
      <p:ext uri="{BB962C8B-B14F-4D97-AF65-F5344CB8AC3E}">
        <p14:creationId xmlns:p14="http://schemas.microsoft.com/office/powerpoint/2010/main" val="3878401551"/>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1380</Words>
  <Application>Microsoft Office PowerPoint</Application>
  <PresentationFormat>Widescreen</PresentationFormat>
  <Paragraphs>48</Paragraphs>
  <Slides>16</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16</vt:i4>
      </vt:variant>
    </vt:vector>
  </HeadingPairs>
  <TitlesOfParts>
    <vt:vector size="23" baseType="lpstr">
      <vt:lpstr>Arial</vt:lpstr>
      <vt:lpstr>Barlow</vt:lpstr>
      <vt:lpstr>Calibri</vt:lpstr>
      <vt:lpstr>Calibri Light</vt:lpstr>
      <vt:lpstr>Open Sans</vt:lpstr>
      <vt:lpstr>roboto</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1. CUSTOS COM PROFISSIONAIS ENVOLVIDOS</vt:lpstr>
      <vt:lpstr>2. Serviço ou compra de licença?</vt:lpstr>
      <vt:lpstr>3. Curva de aprendizado</vt:lpstr>
      <vt:lpstr>4. Tempo é dinheiro</vt:lpstr>
      <vt:lpstr>5. Como a operação será afetada?</vt:lpstr>
      <vt:lpstr>6. Obsolescência tecnológica</vt:lpstr>
      <vt:lpstr>7. Verificar custos de suporte</vt:lpstr>
      <vt:lpstr>8. Gastos com customização</vt:lpstr>
      <vt:lpstr>9. Ganho ou perda de produtividade</vt:lpstr>
      <vt:lpstr>10. Uma sua equipe em torno do projeto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Roberto Zanoni</dc:creator>
  <cp:lastModifiedBy>Roberto Zanoni</cp:lastModifiedBy>
  <cp:revision>4</cp:revision>
  <dcterms:created xsi:type="dcterms:W3CDTF">2023-03-14T21:22:07Z</dcterms:created>
  <dcterms:modified xsi:type="dcterms:W3CDTF">2024-03-20T10:53:14Z</dcterms:modified>
</cp:coreProperties>
</file>