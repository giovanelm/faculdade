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2" r:id="rId1"/>
  </p:sldMasterIdLst>
  <p:sldIdLst>
    <p:sldId id="282" r:id="rId2"/>
    <p:sldId id="258" r:id="rId3"/>
    <p:sldId id="320" r:id="rId4"/>
    <p:sldId id="323" r:id="rId5"/>
    <p:sldId id="336" r:id="rId6"/>
    <p:sldId id="337" r:id="rId7"/>
    <p:sldId id="338" r:id="rId8"/>
    <p:sldId id="341" r:id="rId9"/>
    <p:sldId id="343" r:id="rId10"/>
    <p:sldId id="344" r:id="rId11"/>
    <p:sldId id="299" r:id="rId12"/>
    <p:sldId id="307" r:id="rId13"/>
    <p:sldId id="313" r:id="rId14"/>
    <p:sldId id="314" r:id="rId15"/>
    <p:sldId id="315" r:id="rId16"/>
    <p:sldId id="327" r:id="rId17"/>
    <p:sldId id="328" r:id="rId18"/>
    <p:sldId id="329" r:id="rId19"/>
    <p:sldId id="330" r:id="rId20"/>
    <p:sldId id="331" r:id="rId21"/>
    <p:sldId id="333" r:id="rId22"/>
    <p:sldId id="326" r:id="rId23"/>
    <p:sldId id="317" r:id="rId24"/>
    <p:sldId id="316" r:id="rId25"/>
    <p:sldId id="321" r:id="rId26"/>
    <p:sldId id="322" r:id="rId27"/>
    <p:sldId id="318" r:id="rId28"/>
    <p:sldId id="319" r:id="rId29"/>
    <p:sldId id="325" r:id="rId30"/>
    <p:sldId id="301" r:id="rId31"/>
    <p:sldId id="295" r:id="rId32"/>
    <p:sldId id="296" r:id="rId33"/>
    <p:sldId id="302" r:id="rId34"/>
    <p:sldId id="303" r:id="rId35"/>
    <p:sldId id="304" r:id="rId36"/>
    <p:sldId id="305" r:id="rId37"/>
    <p:sldId id="297" r:id="rId38"/>
    <p:sldId id="298" r:id="rId39"/>
    <p:sldId id="324" r:id="rId40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46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486DE-684F-4318-9B62-A9A48BECFF76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7701-9E08-43CD-854D-AF682C33471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6741D-FE9D-4B26-A9D1-38099824BF72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A5C16-8EEE-419E-8188-BD4A9F8C9D5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65590-FE3A-4620-B5CA-48728DA40E99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AD310-822D-4990-971B-CD3D14A3AFF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702F2-0B6A-4FB5-8E9E-B3AC3068F547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C83CA-624D-4C8E-B0B6-F8B15A319B4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23BDE-5D42-4495-BF0F-C203080CDEF9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732BB-7FA9-4178-AD0B-1802258E3AB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8D5BE-FCBA-4CE5-81C0-D91C7AC6EC60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C4579-FE87-4827-BFB7-A6917FDA422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B725A-9127-470A-9F7D-035C14833297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E321F-0D39-4D91-9CA5-8BD9FFD3483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221FB-ABCB-4633-94C2-E4D02BBD4D3E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10EAB-9642-4CE8-A0D5-5DA9213DD48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96B44-574B-42F6-9E93-BBDE337529AE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C16B0-87E3-4F65-A4C1-13FF1DD7928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79587-809A-45B7-ACDE-32676969932A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F78E6-0246-47D4-B98B-315DABD732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0A52B-BC7F-4E8B-8CB3-B62721BD9AC2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FBCCF-C9F6-45F8-8948-619E058BDAB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5CBEE61-9C09-4E41-BF02-6F71EB6D856B}" type="datetimeFigureOut">
              <a:rPr lang="pt-BR"/>
              <a:pPr>
                <a:defRPr/>
              </a:pPr>
              <a:t>07/08/2019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2AD662-1E88-45FA-8CAF-6F3228EF9ED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2" r:id="rId2"/>
    <p:sldLayoutId id="2147484041" r:id="rId3"/>
    <p:sldLayoutId id="2147484040" r:id="rId4"/>
    <p:sldLayoutId id="2147484039" r:id="rId5"/>
    <p:sldLayoutId id="2147484038" r:id="rId6"/>
    <p:sldLayoutId id="2147484037" r:id="rId7"/>
    <p:sldLayoutId id="2147484036" r:id="rId8"/>
    <p:sldLayoutId id="2147484035" r:id="rId9"/>
    <p:sldLayoutId id="2147484034" r:id="rId10"/>
    <p:sldLayoutId id="214748403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0063" y="1524000"/>
            <a:ext cx="8001000" cy="1752600"/>
          </a:xfrm>
        </p:spPr>
        <p:txBody>
          <a:bodyPr/>
          <a:lstStyle/>
          <a:p>
            <a:pPr eaLnBrk="1" hangingPunct="1"/>
            <a:r>
              <a:rPr lang="pt-BR" sz="3200" b="1" smtClean="0">
                <a:solidFill>
                  <a:schemeClr val="tx2"/>
                </a:solidFill>
              </a:rPr>
              <a:t>Conceitos Básicos de Engenharia de Software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860800"/>
            <a:ext cx="8610600" cy="1585913"/>
          </a:xfrm>
        </p:spPr>
        <p:txBody>
          <a:bodyPr>
            <a:normAutofit/>
          </a:bodyPr>
          <a:lstStyle/>
          <a:p>
            <a:pPr eaLnBrk="1" hangingPunct="1"/>
            <a:endParaRPr lang="pt-BR" sz="2400" smtClean="0">
              <a:solidFill>
                <a:srgbClr val="898989"/>
              </a:solidFill>
            </a:endParaRPr>
          </a:p>
          <a:p>
            <a:pPr eaLnBrk="1" hangingPunct="1"/>
            <a:r>
              <a:rPr lang="pt-BR" sz="2400" b="1" smtClean="0">
                <a:solidFill>
                  <a:srgbClr val="898989"/>
                </a:solidFill>
              </a:rPr>
              <a:t>Prof. Roberto Zanoni</a:t>
            </a:r>
          </a:p>
          <a:p>
            <a:pPr eaLnBrk="1" hangingPunct="1"/>
            <a:r>
              <a:rPr lang="pt-BR" sz="2400" smtClean="0">
                <a:solidFill>
                  <a:srgbClr val="898989"/>
                </a:solidFill>
              </a:rPr>
              <a:t>Unidade Curricular: Engenharia de Software 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Por que Engenharia de Software?</a:t>
            </a:r>
            <a:r>
              <a:rPr lang="pt-BR" sz="2400" smtClean="0"/>
              <a:t/>
            </a:r>
            <a:br>
              <a:rPr lang="pt-BR" sz="2400" smtClean="0"/>
            </a:br>
            <a:endParaRPr lang="pt-BR" sz="2400" smtClean="0"/>
          </a:p>
          <a:p>
            <a:pPr lvl="1" eaLnBrk="1" hangingPunct="1"/>
            <a:r>
              <a:rPr lang="pt-BR" sz="2400" smtClean="0"/>
              <a:t>“...adquirir uma forma de desenvolvimento de software de maneira sistêmica, entendível, controlável...”</a:t>
            </a:r>
          </a:p>
        </p:txBody>
      </p:sp>
      <p:sp>
        <p:nvSpPr>
          <p:cNvPr id="1433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Motivação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F43A6598-0B8F-4163-9505-5529B6F1503A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4341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smtClean="0"/>
              <a:t>Todas as nações desenvolvidas são dependentes de software</a:t>
            </a:r>
          </a:p>
          <a:p>
            <a:pPr eaLnBrk="1" hangingPunct="1"/>
            <a:r>
              <a:rPr lang="pt-BR" sz="2400" smtClean="0"/>
              <a:t>Cada vez mais sistemas são controlados por software</a:t>
            </a:r>
          </a:p>
          <a:p>
            <a:pPr eaLnBrk="1" hangingPunct="1"/>
            <a:r>
              <a:rPr lang="pt-BR" sz="2400" smtClean="0"/>
              <a:t>A engenharia de software se dedica às teorias, métodos e ferramentas para o desenvolvimento de software profissional</a:t>
            </a:r>
          </a:p>
          <a:p>
            <a:pPr eaLnBrk="1" hangingPunct="1"/>
            <a:r>
              <a:rPr lang="pt-BR" sz="2400" smtClean="0"/>
              <a:t>Os custos de software representam uma fração significativa  do PIB em todos os países desenvolvidos</a:t>
            </a:r>
          </a:p>
          <a:p>
            <a:pPr lvl="1" eaLnBrk="1" hangingPunct="1"/>
            <a:endParaRPr lang="pt-BR" sz="2400" smtClean="0"/>
          </a:p>
        </p:txBody>
      </p:sp>
      <p:sp>
        <p:nvSpPr>
          <p:cNvPr id="15362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Motivação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01116B0B-9DFF-4F0D-9A87-1908A1A625C7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5365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Definição de engenharia de software</a:t>
            </a:r>
            <a:endParaRPr lang="pt-BR" sz="2400" smtClean="0"/>
          </a:p>
          <a:p>
            <a:pPr lvl="1" eaLnBrk="1" hangingPunct="1"/>
            <a:r>
              <a:rPr lang="pt-BR" sz="2400" smtClean="0"/>
              <a:t>A aplicação de uma abordagem sistemática, disciplinada, quantificável no desenvolvimento, operação e manutenção de software [IEEE-93]</a:t>
            </a:r>
          </a:p>
          <a:p>
            <a:pPr eaLnBrk="1" hangingPunct="1"/>
            <a:r>
              <a:rPr lang="pt-BR" sz="2400" b="1" smtClean="0"/>
              <a:t>Relacionada a:</a:t>
            </a:r>
          </a:p>
          <a:p>
            <a:pPr lvl="1" eaLnBrk="1" hangingPunct="1"/>
            <a:r>
              <a:rPr lang="pt-BR" sz="2400" smtClean="0"/>
              <a:t>Definição de processos, modelos e metodologias de desenvolvimento</a:t>
            </a:r>
          </a:p>
          <a:p>
            <a:pPr lvl="1" eaLnBrk="1" hangingPunct="1"/>
            <a:r>
              <a:rPr lang="pt-BR" sz="2400" smtClean="0"/>
              <a:t>Gerência de projetos</a:t>
            </a:r>
          </a:p>
          <a:p>
            <a:pPr lvl="1" eaLnBrk="1" hangingPunct="1"/>
            <a:r>
              <a:rPr lang="pt-BR" sz="2400" smtClean="0"/>
              <a:t>Investigação de novos métodos, ferramentas e metodologias</a:t>
            </a:r>
          </a:p>
          <a:p>
            <a:pPr lvl="1" eaLnBrk="1" hangingPunct="1"/>
            <a:r>
              <a:rPr lang="pt-BR" sz="2400" smtClean="0"/>
              <a:t>Entre outras</a:t>
            </a:r>
          </a:p>
          <a:p>
            <a:pPr lvl="1" eaLnBrk="1" hangingPunct="1"/>
            <a:endParaRPr lang="pt-BR" sz="2400" smtClean="0"/>
          </a:p>
        </p:txBody>
      </p:sp>
      <p:sp>
        <p:nvSpPr>
          <p:cNvPr id="16386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Conceitos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2CE87371-558D-4FA0-BD3B-00B93B42140D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4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6389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85813" y="1000125"/>
            <a:ext cx="8072437" cy="4411663"/>
          </a:xfrm>
        </p:spPr>
        <p:txBody>
          <a:bodyPr/>
          <a:lstStyle/>
          <a:p>
            <a:pPr eaLnBrk="1" hangingPunct="1"/>
            <a:endParaRPr lang="pt-BR" sz="2400" b="1" smtClean="0"/>
          </a:p>
          <a:p>
            <a:pPr eaLnBrk="1" hangingPunct="1"/>
            <a:endParaRPr lang="pt-BR" sz="2400" b="1" smtClean="0"/>
          </a:p>
          <a:p>
            <a:pPr eaLnBrk="1" hangingPunct="1"/>
            <a:endParaRPr lang="pt-BR" sz="2400" b="1" smtClean="0"/>
          </a:p>
          <a:p>
            <a:pPr eaLnBrk="1" hangingPunct="1"/>
            <a:endParaRPr lang="pt-BR" sz="2400" b="1" smtClean="0"/>
          </a:p>
          <a:p>
            <a:pPr eaLnBrk="1" hangingPunct="1"/>
            <a:endParaRPr lang="pt-BR" sz="2400" b="1" smtClean="0"/>
          </a:p>
          <a:p>
            <a:pPr eaLnBrk="1" hangingPunct="1"/>
            <a:r>
              <a:rPr lang="pt-BR" sz="2400" b="1" smtClean="0"/>
              <a:t>A engenharia de software é uma tecnologia em camadas</a:t>
            </a:r>
          </a:p>
          <a:p>
            <a:pPr lvl="1" eaLnBrk="1" hangingPunct="1"/>
            <a:r>
              <a:rPr lang="pt-BR" sz="2000" smtClean="0"/>
              <a:t>Comprometimento com a qualidade (enfoque da engenharia)</a:t>
            </a:r>
          </a:p>
          <a:p>
            <a:pPr lvl="1" eaLnBrk="1" hangingPunct="1"/>
            <a:r>
              <a:rPr lang="pt-BR" sz="2000" smtClean="0"/>
              <a:t>Processos: une as demais camadas e permite o desenvolvimento racional de software</a:t>
            </a:r>
          </a:p>
          <a:p>
            <a:pPr lvl="1" eaLnBrk="1" hangingPunct="1">
              <a:buFont typeface="Arial" charset="0"/>
              <a:buNone/>
            </a:pPr>
            <a:endParaRPr lang="pt-BR" sz="2000" smtClean="0"/>
          </a:p>
          <a:p>
            <a:pPr lvl="1" eaLnBrk="1" hangingPunct="1"/>
            <a:endParaRPr lang="pt-BR" sz="2000" smtClean="0"/>
          </a:p>
        </p:txBody>
      </p:sp>
      <p:sp>
        <p:nvSpPr>
          <p:cNvPr id="17410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Conceitos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36134E43-50A6-4190-8D16-4D99A19D77B1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5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7413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grpSp>
        <p:nvGrpSpPr>
          <p:cNvPr id="17414" name="Grupo 13"/>
          <p:cNvGrpSpPr>
            <a:grpSpLocks/>
          </p:cNvGrpSpPr>
          <p:nvPr/>
        </p:nvGrpSpPr>
        <p:grpSpPr bwMode="auto">
          <a:xfrm>
            <a:off x="1714500" y="1714500"/>
            <a:ext cx="6072188" cy="1285875"/>
            <a:chOff x="1500166" y="3643314"/>
            <a:chExt cx="6072230" cy="1285884"/>
          </a:xfrm>
        </p:grpSpPr>
        <p:sp>
          <p:nvSpPr>
            <p:cNvPr id="10" name="Fluxograma: Disco magnético 9"/>
            <p:cNvSpPr/>
            <p:nvPr/>
          </p:nvSpPr>
          <p:spPr>
            <a:xfrm>
              <a:off x="1500166" y="4500570"/>
              <a:ext cx="6072230" cy="42862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dirty="0"/>
                <a:t>-&gt; foco na qualidade</a:t>
              </a:r>
            </a:p>
          </p:txBody>
        </p:sp>
        <p:sp>
          <p:nvSpPr>
            <p:cNvPr id="11" name="Fluxograma: Disco magnético 10"/>
            <p:cNvSpPr/>
            <p:nvPr/>
          </p:nvSpPr>
          <p:spPr>
            <a:xfrm>
              <a:off x="1795443" y="4214818"/>
              <a:ext cx="5348325" cy="42862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b="1" dirty="0"/>
                <a:t>processos</a:t>
              </a:r>
            </a:p>
          </p:txBody>
        </p:sp>
        <p:sp>
          <p:nvSpPr>
            <p:cNvPr id="12" name="Fluxograma: Disco magnético 11"/>
            <p:cNvSpPr/>
            <p:nvPr/>
          </p:nvSpPr>
          <p:spPr>
            <a:xfrm>
              <a:off x="2081195" y="3929066"/>
              <a:ext cx="4776821" cy="42862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b="1" dirty="0"/>
                <a:t>métodos</a:t>
              </a:r>
            </a:p>
          </p:txBody>
        </p:sp>
        <p:sp>
          <p:nvSpPr>
            <p:cNvPr id="13" name="Fluxograma: Disco magnético 12"/>
            <p:cNvSpPr/>
            <p:nvPr/>
          </p:nvSpPr>
          <p:spPr>
            <a:xfrm>
              <a:off x="2428860" y="3643314"/>
              <a:ext cx="4000528" cy="42862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b="1" dirty="0"/>
                <a:t>ferramentas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Conceitos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D3DC9D0D-5D70-4574-A60B-B5109A428007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6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8436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sp>
        <p:nvSpPr>
          <p:cNvPr id="14" name="Seta para cima 13"/>
          <p:cNvSpPr/>
          <p:nvPr/>
        </p:nvSpPr>
        <p:spPr>
          <a:xfrm>
            <a:off x="3286125" y="2714625"/>
            <a:ext cx="2500313" cy="192881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processo de software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1428750" y="4786313"/>
            <a:ext cx="3000375" cy="35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procedimentos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643438" y="4786313"/>
            <a:ext cx="3000375" cy="35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ferramentas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428750" y="5286375"/>
            <a:ext cx="6215063" cy="357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métodos e paradigmas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1428750" y="5857875"/>
            <a:ext cx="6215063" cy="357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objetivos (foco na qualidade)</a:t>
            </a: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2786063" y="1143000"/>
            <a:ext cx="3500437" cy="128587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produto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dirty="0" smtClean="0"/>
              <a:t>Metodologia</a:t>
            </a:r>
          </a:p>
          <a:p>
            <a:pPr eaLnBrk="1" hangingPunct="1">
              <a:buFont typeface="Arial" charset="0"/>
              <a:buNone/>
            </a:pPr>
            <a:r>
              <a:rPr lang="pt-BR" sz="2400" b="1" dirty="0" smtClean="0"/>
              <a:t>	</a:t>
            </a:r>
          </a:p>
          <a:p>
            <a:pPr eaLnBrk="1" hangingPunct="1">
              <a:buFont typeface="Arial" charset="0"/>
              <a:buNone/>
            </a:pPr>
            <a:r>
              <a:rPr lang="pt-BR" sz="2400" b="1" dirty="0" smtClean="0"/>
              <a:t>	</a:t>
            </a:r>
            <a:r>
              <a:rPr lang="pt-BR" sz="2000" b="1" dirty="0" smtClean="0"/>
              <a:t>Conjunto de métodos (técnicas) e processos</a:t>
            </a:r>
          </a:p>
          <a:p>
            <a:pPr lvl="1" eaLnBrk="1" hangingPunct="1"/>
            <a:endParaRPr lang="pt-BR" sz="2000" b="1" dirty="0" smtClean="0"/>
          </a:p>
          <a:p>
            <a:pPr lvl="1" eaLnBrk="1" hangingPunct="1">
              <a:buFont typeface="Arial" charset="0"/>
              <a:buNone/>
            </a:pPr>
            <a:endParaRPr lang="pt-BR" sz="2000" dirty="0" smtClean="0"/>
          </a:p>
        </p:txBody>
      </p:sp>
      <p:sp>
        <p:nvSpPr>
          <p:cNvPr id="1945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Conceitos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836D0641-CF20-451C-99AA-142CA71F2E66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7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9461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sp>
        <p:nvSpPr>
          <p:cNvPr id="2" name="Retângulo 1"/>
          <p:cNvSpPr/>
          <p:nvPr/>
        </p:nvSpPr>
        <p:spPr>
          <a:xfrm>
            <a:off x="755576" y="3212976"/>
            <a:ext cx="75991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pt-BR" sz="1600" b="1" dirty="0" smtClean="0"/>
              <a:t>Método: </a:t>
            </a:r>
            <a:r>
              <a:rPr lang="pt-BR" sz="1400" b="1" dirty="0" smtClean="0"/>
              <a:t>Caminho </a:t>
            </a:r>
            <a:r>
              <a:rPr lang="pt-BR" sz="1400" b="1" dirty="0"/>
              <a:t>para se atingir um objetivo (modo de proceder)</a:t>
            </a:r>
          </a:p>
        </p:txBody>
      </p:sp>
      <p:sp>
        <p:nvSpPr>
          <p:cNvPr id="3" name="Retângulo 2"/>
          <p:cNvSpPr/>
          <p:nvPr/>
        </p:nvSpPr>
        <p:spPr>
          <a:xfrm>
            <a:off x="755576" y="3625083"/>
            <a:ext cx="84249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pt-BR" sz="1600" b="1" dirty="0" smtClean="0"/>
              <a:t>Processo: M</a:t>
            </a:r>
            <a:r>
              <a:rPr lang="pt-BR" sz="1400" b="1" dirty="0" smtClean="0"/>
              <a:t>aneira </a:t>
            </a:r>
            <a:r>
              <a:rPr lang="pt-BR" sz="1400" b="1" dirty="0"/>
              <a:t>pela qual se realiza uma operação, segunda determinado método ou norma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Conceitos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34B941F3-8914-4D5D-9B0E-6AAF0B615556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8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22532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sp>
        <p:nvSpPr>
          <p:cNvPr id="7" name="Triângulo isósceles 6"/>
          <p:cNvSpPr/>
          <p:nvPr/>
        </p:nvSpPr>
        <p:spPr>
          <a:xfrm>
            <a:off x="1928813" y="2000250"/>
            <a:ext cx="5286375" cy="292893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2534" name="CaixaDeTexto 9"/>
          <p:cNvSpPr txBox="1">
            <a:spLocks noChangeArrowheads="1"/>
          </p:cNvSpPr>
          <p:nvPr/>
        </p:nvSpPr>
        <p:spPr bwMode="auto">
          <a:xfrm>
            <a:off x="3500438" y="1571625"/>
            <a:ext cx="2071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/>
              <a:t>métodos</a:t>
            </a:r>
          </a:p>
        </p:txBody>
      </p:sp>
      <p:sp>
        <p:nvSpPr>
          <p:cNvPr id="22535" name="CaixaDeTexto 10"/>
          <p:cNvSpPr txBox="1">
            <a:spLocks noChangeArrowheads="1"/>
          </p:cNvSpPr>
          <p:nvPr/>
        </p:nvSpPr>
        <p:spPr bwMode="auto">
          <a:xfrm>
            <a:off x="1000125" y="5000625"/>
            <a:ext cx="20716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/>
              <a:t>procedimentos</a:t>
            </a:r>
          </a:p>
        </p:txBody>
      </p:sp>
      <p:sp>
        <p:nvSpPr>
          <p:cNvPr id="22536" name="CaixaDeTexto 11"/>
          <p:cNvSpPr txBox="1">
            <a:spLocks noChangeArrowheads="1"/>
          </p:cNvSpPr>
          <p:nvPr/>
        </p:nvSpPr>
        <p:spPr bwMode="auto">
          <a:xfrm>
            <a:off x="6143625" y="5072063"/>
            <a:ext cx="20716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/>
              <a:t>ferramentas</a:t>
            </a:r>
          </a:p>
        </p:txBody>
      </p:sp>
      <p:sp>
        <p:nvSpPr>
          <p:cNvPr id="13" name="Elipse 12"/>
          <p:cNvSpPr/>
          <p:nvPr/>
        </p:nvSpPr>
        <p:spPr>
          <a:xfrm>
            <a:off x="3714750" y="3071813"/>
            <a:ext cx="1643063" cy="135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b="1" dirty="0"/>
              <a:t>objetivos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Métodos</a:t>
            </a:r>
          </a:p>
          <a:p>
            <a:pPr eaLnBrk="1" hangingPunct="1">
              <a:buFont typeface="Arial" charset="0"/>
              <a:buNone/>
            </a:pPr>
            <a:endParaRPr lang="pt-BR" sz="2400" b="1" smtClean="0"/>
          </a:p>
          <a:p>
            <a:pPr lvl="1" eaLnBrk="1" hangingPunct="1"/>
            <a:r>
              <a:rPr lang="pt-BR" sz="2000" smtClean="0"/>
              <a:t>Detalhamento de “</a:t>
            </a:r>
            <a:r>
              <a:rPr lang="pt-BR" sz="2000" b="1" smtClean="0"/>
              <a:t>como fazer</a:t>
            </a:r>
            <a:r>
              <a:rPr lang="pt-BR" sz="2000" smtClean="0"/>
              <a:t>”, usando princípios da engenharia</a:t>
            </a:r>
          </a:p>
          <a:p>
            <a:pPr lvl="1" eaLnBrk="1" hangingPunct="1"/>
            <a:r>
              <a:rPr lang="pt-BR" sz="2000" smtClean="0"/>
              <a:t>Envolvem amplo conjunto de tarefas que incluem:</a:t>
            </a:r>
          </a:p>
          <a:p>
            <a:pPr lvl="2" eaLnBrk="1" hangingPunct="1"/>
            <a:r>
              <a:rPr lang="pt-BR" sz="2000" smtClean="0"/>
              <a:t>Planejamento</a:t>
            </a:r>
          </a:p>
          <a:p>
            <a:pPr lvl="2" eaLnBrk="1" hangingPunct="1"/>
            <a:r>
              <a:rPr lang="pt-BR" sz="2000" smtClean="0"/>
              <a:t>Estimativa</a:t>
            </a:r>
          </a:p>
          <a:p>
            <a:pPr lvl="2" eaLnBrk="1" hangingPunct="1"/>
            <a:r>
              <a:rPr lang="pt-BR" sz="2000" smtClean="0"/>
              <a:t>Análise de requisitos</a:t>
            </a:r>
          </a:p>
          <a:p>
            <a:pPr lvl="2" eaLnBrk="1" hangingPunct="1"/>
            <a:r>
              <a:rPr lang="pt-BR" sz="2000" smtClean="0"/>
              <a:t>Codificação</a:t>
            </a:r>
          </a:p>
          <a:p>
            <a:pPr lvl="2" eaLnBrk="1" hangingPunct="1"/>
            <a:r>
              <a:rPr lang="pt-BR" sz="2000" smtClean="0"/>
              <a:t>Testes</a:t>
            </a:r>
          </a:p>
          <a:p>
            <a:pPr lvl="2" eaLnBrk="1" hangingPunct="1"/>
            <a:r>
              <a:rPr lang="pt-BR" sz="2000" smtClean="0"/>
              <a:t>Manutenção</a:t>
            </a:r>
          </a:p>
          <a:p>
            <a:pPr lvl="1" eaLnBrk="1" hangingPunct="1"/>
            <a:r>
              <a:rPr lang="pt-BR" sz="2000" smtClean="0"/>
              <a:t>Métodos geralmente introduzem uma notação gráfica ou terminologia especial</a:t>
            </a:r>
          </a:p>
        </p:txBody>
      </p:sp>
      <p:sp>
        <p:nvSpPr>
          <p:cNvPr id="2457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Conceitos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4E39E0D5-4797-4EB6-9663-0423BE13FF55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9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24581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Ferramentas</a:t>
            </a:r>
          </a:p>
          <a:p>
            <a:pPr eaLnBrk="1" hangingPunct="1"/>
            <a:endParaRPr lang="pt-BR" sz="2400" b="1" smtClean="0"/>
          </a:p>
          <a:p>
            <a:pPr lvl="1" eaLnBrk="1" hangingPunct="1"/>
            <a:r>
              <a:rPr lang="pt-BR" sz="2000" smtClean="0"/>
              <a:t>Proporcionam apoio automatizado para aplicação dos métodos</a:t>
            </a:r>
          </a:p>
          <a:p>
            <a:pPr lvl="1" eaLnBrk="1" hangingPunct="1"/>
            <a:r>
              <a:rPr lang="pt-BR" sz="2000" smtClean="0"/>
              <a:t>Quando integrados (o produto gerado por uma ferramenta serve como entrada para a ferramenta seguinte) obtém-se um ambiente de suporte ao desenvolvimento de software</a:t>
            </a:r>
          </a:p>
          <a:p>
            <a:pPr lvl="1" eaLnBrk="1" hangingPunct="1"/>
            <a:r>
              <a:rPr lang="pt-BR" sz="2000" smtClean="0"/>
              <a:t>Chamado de Engenharia de Software Auxiliada por Computador (CASE - Computer-Aided Software Engineering)</a:t>
            </a:r>
          </a:p>
        </p:txBody>
      </p:sp>
      <p:sp>
        <p:nvSpPr>
          <p:cNvPr id="25602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Conceitos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FA34B137-3F7B-4346-A207-389EDCE73A96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10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25605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O que é software?</a:t>
            </a:r>
          </a:p>
          <a:p>
            <a:pPr eaLnBrk="1" hangingPunct="1">
              <a:buFont typeface="Arial" charset="0"/>
              <a:buNone/>
            </a:pPr>
            <a:endParaRPr lang="pt-BR" sz="2400" b="1" smtClean="0"/>
          </a:p>
          <a:p>
            <a:pPr lvl="1" eaLnBrk="1" hangingPunct="1"/>
            <a:r>
              <a:rPr lang="pt-BR" sz="2400" smtClean="0"/>
              <a:t>Programas de computador e documentação associada</a:t>
            </a:r>
          </a:p>
          <a:p>
            <a:pPr lvl="1" eaLnBrk="1" hangingPunct="1"/>
            <a:r>
              <a:rPr lang="pt-BR" sz="2400" smtClean="0"/>
              <a:t>Os produtos de software podem ser desenvolvidos para um cliente específico ou para um mercado geral</a:t>
            </a:r>
          </a:p>
        </p:txBody>
      </p:sp>
      <p:sp>
        <p:nvSpPr>
          <p:cNvPr id="32770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Sobre Engenharia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7A7BC8F4-1E63-4749-A342-DF597D1D93E6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11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32773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O que é engenharia de software?</a:t>
            </a:r>
          </a:p>
          <a:p>
            <a:pPr eaLnBrk="1" hangingPunct="1"/>
            <a:endParaRPr lang="pt-BR" sz="2400" b="1" smtClean="0"/>
          </a:p>
          <a:p>
            <a:pPr lvl="1" eaLnBrk="1" hangingPunct="1"/>
            <a:r>
              <a:rPr lang="pt-BR" sz="2400" smtClean="0"/>
              <a:t>É uma </a:t>
            </a:r>
            <a:r>
              <a:rPr lang="pt-BR" sz="2400" u="sng" smtClean="0"/>
              <a:t>disciplina de engenharia </a:t>
            </a:r>
            <a:r>
              <a:rPr lang="pt-BR" sz="2400" smtClean="0"/>
              <a:t>relacionada a todos os aspectos de produção de software, desde a especificação até a manutenção (em operação)</a:t>
            </a:r>
          </a:p>
        </p:txBody>
      </p:sp>
      <p:sp>
        <p:nvSpPr>
          <p:cNvPr id="33794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Sobre Engenharia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932BB891-909F-48FA-AE67-1D211D191A41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12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33797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Quais são os atributos de um bom software?</a:t>
            </a:r>
          </a:p>
          <a:p>
            <a:pPr lvl="1" eaLnBrk="1" hangingPunct="1"/>
            <a:r>
              <a:rPr lang="pt-BR" sz="2400" smtClean="0"/>
              <a:t>O software deve fornecer a funcionalidade e o desempenho exigidos pelo usuário e deve ser fácil de manter, confiável e usável</a:t>
            </a:r>
          </a:p>
          <a:p>
            <a:pPr lvl="1" eaLnBrk="1" hangingPunct="1">
              <a:buFont typeface="Arial" charset="0"/>
              <a:buNone/>
            </a:pPr>
            <a:endParaRPr lang="pt-BR" sz="2400" smtClean="0"/>
          </a:p>
          <a:p>
            <a:pPr lvl="1" eaLnBrk="1" hangingPunct="1"/>
            <a:endParaRPr lang="pt-BR" sz="2400" smtClean="0"/>
          </a:p>
        </p:txBody>
      </p:sp>
      <p:sp>
        <p:nvSpPr>
          <p:cNvPr id="3993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Sobre Engenharia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F0624E28-7574-43F6-9CFC-0EEEBC0D3862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13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39941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642938" y="3000375"/>
          <a:ext cx="807249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058"/>
                <a:gridCol w="4974436"/>
              </a:tblGrid>
              <a:tr h="285752">
                <a:tc>
                  <a:txBody>
                    <a:bodyPr/>
                    <a:lstStyle/>
                    <a:p>
                      <a:r>
                        <a:rPr lang="pt-BR" dirty="0" smtClean="0"/>
                        <a:t>Característica do produto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Descrição</a:t>
                      </a:r>
                      <a:endParaRPr lang="pt-BR" dirty="0"/>
                    </a:p>
                  </a:txBody>
                  <a:tcPr/>
                </a:tc>
              </a:tr>
              <a:tr h="614366">
                <a:tc>
                  <a:txBody>
                    <a:bodyPr/>
                    <a:lstStyle/>
                    <a:p>
                      <a:r>
                        <a:rPr lang="pt-BR" dirty="0" smtClean="0"/>
                        <a:t>Facilidade de manutenção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Deve ser escrito de forma que</a:t>
                      </a:r>
                      <a:r>
                        <a:rPr lang="pt-BR" baseline="0" dirty="0" smtClean="0"/>
                        <a:t> possa evoluir para atender às necessidades de mudança</a:t>
                      </a:r>
                    </a:p>
                    <a:p>
                      <a:r>
                        <a:rPr lang="pt-BR" baseline="0" dirty="0" smtClean="0"/>
                        <a:t>Mudança é uma consequência inevitável</a:t>
                      </a:r>
                      <a:endParaRPr lang="pt-BR" dirty="0"/>
                    </a:p>
                  </a:txBody>
                  <a:tcPr/>
                </a:tc>
              </a:tr>
              <a:tr h="614366">
                <a:tc>
                  <a:txBody>
                    <a:bodyPr/>
                    <a:lstStyle/>
                    <a:p>
                      <a:r>
                        <a:rPr lang="pt-BR" dirty="0" smtClean="0"/>
                        <a:t>Confiança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Confiabilidade, proteção e segurança. Não deve causar danos físicos</a:t>
                      </a:r>
                      <a:r>
                        <a:rPr lang="pt-BR" baseline="0" dirty="0" smtClean="0"/>
                        <a:t> ou econômicos no caso de falhas</a:t>
                      </a:r>
                      <a:endParaRPr lang="pt-BR" dirty="0"/>
                    </a:p>
                  </a:txBody>
                  <a:tcPr/>
                </a:tc>
              </a:tr>
              <a:tr h="614366">
                <a:tc>
                  <a:txBody>
                    <a:bodyPr/>
                    <a:lstStyle/>
                    <a:p>
                      <a:r>
                        <a:rPr lang="pt-BR" dirty="0" smtClean="0"/>
                        <a:t>Eficiência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Não</a:t>
                      </a:r>
                      <a:r>
                        <a:rPr lang="pt-BR" baseline="0" dirty="0" smtClean="0"/>
                        <a:t> deve desperdiçar recursos (memória, processamento, disco)</a:t>
                      </a:r>
                      <a:endParaRPr lang="pt-BR" dirty="0"/>
                    </a:p>
                  </a:txBody>
                  <a:tcPr/>
                </a:tc>
              </a:tr>
              <a:tr h="614366">
                <a:tc>
                  <a:txBody>
                    <a:bodyPr/>
                    <a:lstStyle/>
                    <a:p>
                      <a:r>
                        <a:rPr lang="pt-BR" dirty="0" smtClean="0"/>
                        <a:t>Usabilidade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Usável, sem esforço</a:t>
                      </a:r>
                      <a:r>
                        <a:rPr lang="pt-BR" baseline="0" dirty="0" smtClean="0"/>
                        <a:t> excessivo. Interface amigável e de fácil compreensão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8072438" cy="4911725"/>
          </a:xfrm>
        </p:spPr>
        <p:txBody>
          <a:bodyPr/>
          <a:lstStyle/>
          <a:p>
            <a:pPr eaLnBrk="1" hangingPunct="1"/>
            <a:r>
              <a:rPr lang="pt-BR" sz="2400" b="1" dirty="0" smtClean="0"/>
              <a:t>Quais são os desafios enfrentados pela engenharia de software?</a:t>
            </a:r>
          </a:p>
          <a:p>
            <a:pPr lvl="1" eaLnBrk="1" hangingPunct="1"/>
            <a:r>
              <a:rPr lang="pt-BR" sz="2400" dirty="0" smtClean="0"/>
              <a:t>Lidar com sistemas legados, com heterogeneidade e com demandas de reduzidos tempos de entrega (fornecimento)</a:t>
            </a:r>
          </a:p>
          <a:p>
            <a:pPr lvl="1" eaLnBrk="1" hangingPunct="1"/>
            <a:r>
              <a:rPr lang="pt-BR" sz="2400" dirty="0" smtClean="0"/>
              <a:t>Sistemas legados: sistemas antigos, porém importantes e que devem ser mantidos e atualizados</a:t>
            </a:r>
          </a:p>
          <a:p>
            <a:pPr lvl="1" eaLnBrk="1" hangingPunct="1"/>
            <a:r>
              <a:rPr lang="pt-BR" sz="2400" dirty="0" smtClean="0"/>
              <a:t>Tempo </a:t>
            </a:r>
            <a:r>
              <a:rPr lang="pt-BR" sz="2400" dirty="0" smtClean="0"/>
              <a:t>de entrega: crescente pressão por entregas mais rápidas de produtos de softwares</a:t>
            </a:r>
          </a:p>
          <a:p>
            <a:pPr lvl="1" eaLnBrk="1" hangingPunct="1"/>
            <a:endParaRPr lang="pt-BR" sz="2400" dirty="0" smtClean="0"/>
          </a:p>
        </p:txBody>
      </p:sp>
      <p:sp>
        <p:nvSpPr>
          <p:cNvPr id="40962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Sobre Engenharia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121BCFBB-CF85-42D0-AA74-A01DB1A4B895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14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0965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500688" cy="4983163"/>
          </a:xfrm>
        </p:spPr>
        <p:txBody>
          <a:bodyPr/>
          <a:lstStyle/>
          <a:p>
            <a:pPr eaLnBrk="1" hangingPunct="1"/>
            <a:r>
              <a:rPr lang="pt-BR" sz="2400" b="1" dirty="0" smtClean="0"/>
              <a:t>Década de 60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Não havia nenhuma metodologia de desenvolvimento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Programação  como uma arte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Discussão de como construir sistemas com eficiência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Conceito de </a:t>
            </a:r>
            <a:r>
              <a:rPr lang="pt-BR" sz="2000" b="1" dirty="0" smtClean="0"/>
              <a:t>estruturação</a:t>
            </a:r>
          </a:p>
          <a:p>
            <a:pPr lvl="2" eaLnBrk="1" hangingPunct="1"/>
            <a:r>
              <a:rPr lang="pt-BR" sz="2000" dirty="0" smtClean="0"/>
              <a:t>Programação estruturada</a:t>
            </a:r>
          </a:p>
          <a:p>
            <a:pPr lvl="2" eaLnBrk="1" hangingPunct="1"/>
            <a:r>
              <a:rPr lang="pt-BR" sz="2000" dirty="0" smtClean="0"/>
              <a:t>Projeto estruturado</a:t>
            </a:r>
          </a:p>
          <a:p>
            <a:pPr lvl="2" eaLnBrk="1" hangingPunct="1"/>
            <a:r>
              <a:rPr lang="pt-BR" sz="2000" dirty="0" smtClean="0"/>
              <a:t>Análise estruturada</a:t>
            </a:r>
          </a:p>
          <a:p>
            <a:pPr lvl="1" eaLnBrk="1" hangingPunct="1">
              <a:buFont typeface="Arial" charset="0"/>
              <a:buChar char="•"/>
            </a:pPr>
            <a:endParaRPr lang="pt-BR" sz="2000" dirty="0" smtClean="0"/>
          </a:p>
          <a:p>
            <a:pPr lvl="2" eaLnBrk="1" hangingPunct="1"/>
            <a:endParaRPr lang="pt-BR" sz="2000" dirty="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dirty="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dirty="0" smtClean="0"/>
          </a:p>
          <a:p>
            <a:pPr lvl="1" eaLnBrk="1" hangingPunct="1"/>
            <a:endParaRPr lang="pt-BR" sz="2400" dirty="0" smtClean="0"/>
          </a:p>
          <a:p>
            <a:pPr lvl="2" eaLnBrk="1" hangingPunct="1"/>
            <a:endParaRPr lang="pt-BR" sz="2000" dirty="0" smtClean="0"/>
          </a:p>
          <a:p>
            <a:pPr lvl="1" eaLnBrk="1" hangingPunct="1">
              <a:buFont typeface="Arial" charset="0"/>
              <a:buNone/>
            </a:pPr>
            <a:endParaRPr lang="pt-BR" dirty="0" smtClean="0"/>
          </a:p>
        </p:txBody>
      </p:sp>
      <p:sp>
        <p:nvSpPr>
          <p:cNvPr id="41986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Origens da Modelagem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15A92274-1524-421E-96CD-5B7D517B98AB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15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1989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41990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0" y="2000250"/>
            <a:ext cx="23145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91" name="CaixaDeTexto 15"/>
          <p:cNvSpPr txBox="1">
            <a:spLocks noChangeArrowheads="1"/>
          </p:cNvSpPr>
          <p:nvPr/>
        </p:nvSpPr>
        <p:spPr bwMode="auto">
          <a:xfrm>
            <a:off x="4214813" y="6072188"/>
            <a:ext cx="4714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Fonte: Adaptado de Prof. Cristiano Portela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500688" cy="4983163"/>
          </a:xfrm>
        </p:spPr>
        <p:txBody>
          <a:bodyPr/>
          <a:lstStyle/>
          <a:p>
            <a:pPr eaLnBrk="1" hangingPunct="1"/>
            <a:r>
              <a:rPr lang="pt-BR" sz="2400" b="1" smtClean="0"/>
              <a:t>Década de 60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Característica da análise estruturada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b="1" smtClean="0"/>
              <a:t>Foco nos dados</a:t>
            </a:r>
            <a:r>
              <a:rPr lang="pt-BR" sz="2000" smtClean="0"/>
              <a:t>: Grande quantidade de dados sobre a lógica dos processos 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b="1" smtClean="0"/>
              <a:t>Pouco foco nos processos</a:t>
            </a:r>
            <a:r>
              <a:rPr lang="pt-BR" sz="2000" smtClean="0"/>
              <a:t>: Pequena quantidade de dados relativos aos processos</a:t>
            </a:r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43010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Origens da Modelagem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45CCD6FE-203A-48A3-906A-5FEA2F036B73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16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3013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43014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0" y="2000250"/>
            <a:ext cx="23145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5" name="CaixaDeTexto 15"/>
          <p:cNvSpPr txBox="1">
            <a:spLocks noChangeArrowheads="1"/>
          </p:cNvSpPr>
          <p:nvPr/>
        </p:nvSpPr>
        <p:spPr bwMode="auto">
          <a:xfrm>
            <a:off x="4214813" y="6072188"/>
            <a:ext cx="4714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Fonte: Adaptado de Prof. Cristiano Portela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500688" cy="4983163"/>
          </a:xfrm>
        </p:spPr>
        <p:txBody>
          <a:bodyPr/>
          <a:lstStyle/>
          <a:p>
            <a:pPr eaLnBrk="1" hangingPunct="1"/>
            <a:r>
              <a:rPr lang="pt-BR" sz="2400" b="1" smtClean="0"/>
              <a:t>Década de 60/70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Surgimento dos SGBD</a:t>
            </a:r>
          </a:p>
          <a:p>
            <a:pPr eaLnBrk="1" hangingPunct="1"/>
            <a:r>
              <a:rPr lang="pt-BR" sz="2400" b="1" smtClean="0"/>
              <a:t>1976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Modelo entidade-relacionamento (MER ou ER)</a:t>
            </a:r>
          </a:p>
          <a:p>
            <a:pPr lvl="2" eaLnBrk="1" hangingPunct="1"/>
            <a:r>
              <a:rPr lang="pt-BR" sz="2000" smtClean="0"/>
              <a:t>Visão abstrata dos dados</a:t>
            </a:r>
          </a:p>
          <a:p>
            <a:pPr lvl="2" eaLnBrk="1" hangingPunct="1"/>
            <a:r>
              <a:rPr lang="pt-BR" sz="2000" smtClean="0"/>
              <a:t>Modelagem conceitual em BD</a:t>
            </a:r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44034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Origens da Modelagem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99653C1A-B6F4-434A-8217-5E941B917E8D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17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4037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44038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0" y="2000250"/>
            <a:ext cx="23145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9" name="CaixaDeTexto 15"/>
          <p:cNvSpPr txBox="1">
            <a:spLocks noChangeArrowheads="1"/>
          </p:cNvSpPr>
          <p:nvPr/>
        </p:nvSpPr>
        <p:spPr bwMode="auto">
          <a:xfrm>
            <a:off x="4214813" y="6072188"/>
            <a:ext cx="4714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Fonte: Adaptado de Prof. Cristiano Portela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500688" cy="4983163"/>
          </a:xfrm>
        </p:spPr>
        <p:txBody>
          <a:bodyPr/>
          <a:lstStyle/>
          <a:p>
            <a:pPr eaLnBrk="1" hangingPunct="1"/>
            <a:r>
              <a:rPr lang="pt-BR" sz="2400" b="1" smtClean="0"/>
              <a:t>Década de 80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Metodologias focadas no processo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Metodologias focadas nos dados</a:t>
            </a:r>
          </a:p>
          <a:p>
            <a:pPr eaLnBrk="1" hangingPunct="1"/>
            <a:r>
              <a:rPr lang="pt-BR" sz="2400" b="1" smtClean="0"/>
              <a:t>1981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Engenharia da informação (James Martin e Clive Finkelstein)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Técnicas e ferramentas aplicadas a dados, atividades, tecnologias e pessoas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Para permitir: planejar, analisar, projetar, construir e manter sistemas e informação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Foco na modelagem de dados</a:t>
            </a:r>
          </a:p>
          <a:p>
            <a:pPr lvl="1" eaLnBrk="1" hangingPunct="1">
              <a:buFont typeface="Arial" charset="0"/>
              <a:buChar char="•"/>
            </a:pPr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4505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Origens da Modelagem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C644C2E0-B64C-4682-A301-16CF883D5A8E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18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5061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45062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0" y="2000250"/>
            <a:ext cx="23145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3" name="CaixaDeTexto 15"/>
          <p:cNvSpPr txBox="1">
            <a:spLocks noChangeArrowheads="1"/>
          </p:cNvSpPr>
          <p:nvPr/>
        </p:nvSpPr>
        <p:spPr bwMode="auto">
          <a:xfrm>
            <a:off x="4214813" y="6072188"/>
            <a:ext cx="4714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Fonte: Adaptado de Prof. Cristiano Portela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500688" cy="4983163"/>
          </a:xfrm>
        </p:spPr>
        <p:txBody>
          <a:bodyPr/>
          <a:lstStyle/>
          <a:p>
            <a:pPr eaLnBrk="1" hangingPunct="1"/>
            <a:r>
              <a:rPr lang="pt-BR" sz="2400" b="1" dirty="0" smtClean="0"/>
              <a:t>1984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Corrige o foco excessivo nos dados para o foco nas funcionalidades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O usuário precisa das funcionalidades que por sua vez precisa dos dados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400" dirty="0" smtClean="0"/>
              <a:t>Atividades</a:t>
            </a:r>
            <a:r>
              <a:rPr lang="pt-BR" dirty="0" smtClean="0"/>
              <a:t> </a:t>
            </a:r>
            <a:r>
              <a:rPr lang="pt-BR" sz="2400" dirty="0" smtClean="0"/>
              <a:t>essenciais</a:t>
            </a:r>
            <a:r>
              <a:rPr lang="pt-BR" dirty="0" smtClean="0"/>
              <a:t>:</a:t>
            </a:r>
          </a:p>
          <a:p>
            <a:pPr lvl="2" eaLnBrk="1" hangingPunct="1"/>
            <a:r>
              <a:rPr lang="pt-BR" sz="2000" dirty="0" smtClean="0"/>
              <a:t>Todas as tarefas que o sistema terá que executar quando for implementado</a:t>
            </a:r>
          </a:p>
          <a:p>
            <a:pPr lvl="1" eaLnBrk="1" hangingPunct="1">
              <a:buFont typeface="Arial" charset="0"/>
              <a:buChar char="•"/>
            </a:pPr>
            <a:endParaRPr lang="pt-BR" sz="2000" dirty="0" smtClean="0"/>
          </a:p>
          <a:p>
            <a:pPr lvl="1" eaLnBrk="1" hangingPunct="1">
              <a:buFont typeface="Arial" charset="0"/>
              <a:buChar char="•"/>
            </a:pPr>
            <a:endParaRPr lang="pt-BR" sz="2000" dirty="0" smtClean="0"/>
          </a:p>
          <a:p>
            <a:pPr lvl="1" eaLnBrk="1" hangingPunct="1">
              <a:buFont typeface="Arial" charset="0"/>
              <a:buNone/>
            </a:pPr>
            <a:endParaRPr lang="pt-BR" i="1" dirty="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dirty="0" smtClean="0"/>
          </a:p>
          <a:p>
            <a:pPr lvl="1" eaLnBrk="1" hangingPunct="1"/>
            <a:endParaRPr lang="pt-BR" sz="2400" dirty="0" smtClean="0"/>
          </a:p>
          <a:p>
            <a:pPr lvl="2" eaLnBrk="1" hangingPunct="1"/>
            <a:endParaRPr lang="pt-BR" sz="2000" dirty="0" smtClean="0"/>
          </a:p>
          <a:p>
            <a:pPr lvl="1" eaLnBrk="1" hangingPunct="1">
              <a:buFont typeface="Arial" charset="0"/>
              <a:buNone/>
            </a:pPr>
            <a:endParaRPr lang="pt-BR" dirty="0" smtClean="0"/>
          </a:p>
        </p:txBody>
      </p:sp>
      <p:sp>
        <p:nvSpPr>
          <p:cNvPr id="46082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Origens da Modelagem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764EE9F3-A00C-4505-8076-BD917E211A63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19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6085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46086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0" y="2000250"/>
            <a:ext cx="23145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7" name="CaixaDeTexto 15"/>
          <p:cNvSpPr txBox="1">
            <a:spLocks noChangeArrowheads="1"/>
          </p:cNvSpPr>
          <p:nvPr/>
        </p:nvSpPr>
        <p:spPr bwMode="auto">
          <a:xfrm>
            <a:off x="4214813" y="6072188"/>
            <a:ext cx="4714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Fonte: Adaptado de Prof. Cristiano Portela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500688" cy="4983163"/>
          </a:xfrm>
        </p:spPr>
        <p:txBody>
          <a:bodyPr/>
          <a:lstStyle/>
          <a:p>
            <a:pPr eaLnBrk="1" hangingPunct="1"/>
            <a:r>
              <a:rPr lang="pt-BR" sz="2400" b="1" dirty="0" smtClean="0"/>
              <a:t>Década de 80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b="1" dirty="0" smtClean="0"/>
              <a:t>Técnicas de orientação a objetos (OO)</a:t>
            </a:r>
          </a:p>
          <a:p>
            <a:pPr eaLnBrk="1" hangingPunct="1"/>
            <a:r>
              <a:rPr lang="pt-BR" sz="2400" b="1" dirty="0" smtClean="0"/>
              <a:t>Década de 90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Adaptação do conceito de evento da análise essencial para OO, criando o conceito de </a:t>
            </a:r>
            <a:r>
              <a:rPr lang="pt-BR" sz="2000" b="1" dirty="0" smtClean="0"/>
              <a:t>caso de uso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Projeto dirigido a responsabilidade (comunidade </a:t>
            </a:r>
            <a:r>
              <a:rPr lang="pt-BR" sz="2000" dirty="0" err="1" smtClean="0"/>
              <a:t>Smalltalk</a:t>
            </a:r>
            <a:r>
              <a:rPr lang="pt-BR" sz="2000" dirty="0" smtClean="0"/>
              <a:t>)</a:t>
            </a:r>
          </a:p>
          <a:p>
            <a:pPr lvl="1" eaLnBrk="1" hangingPunct="1">
              <a:buFont typeface="Arial" charset="0"/>
              <a:buNone/>
            </a:pPr>
            <a:endParaRPr lang="pt-BR" i="1" dirty="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dirty="0" smtClean="0"/>
          </a:p>
          <a:p>
            <a:pPr lvl="1" eaLnBrk="1" hangingPunct="1"/>
            <a:endParaRPr lang="pt-BR" sz="2400" dirty="0" smtClean="0"/>
          </a:p>
          <a:p>
            <a:pPr lvl="2" eaLnBrk="1" hangingPunct="1"/>
            <a:endParaRPr lang="pt-BR" sz="2000" dirty="0" smtClean="0"/>
          </a:p>
          <a:p>
            <a:pPr lvl="1" eaLnBrk="1" hangingPunct="1">
              <a:buFont typeface="Arial" charset="0"/>
              <a:buNone/>
            </a:pPr>
            <a:endParaRPr lang="pt-BR" dirty="0" smtClean="0"/>
          </a:p>
        </p:txBody>
      </p:sp>
      <p:sp>
        <p:nvSpPr>
          <p:cNvPr id="47106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Origens da Modelagem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C0D055F0-2F11-4720-A02B-0E10CEFEE59A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20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7109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47110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0" y="2000250"/>
            <a:ext cx="23145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1" name="CaixaDeTexto 15"/>
          <p:cNvSpPr txBox="1">
            <a:spLocks noChangeArrowheads="1"/>
          </p:cNvSpPr>
          <p:nvPr/>
        </p:nvSpPr>
        <p:spPr bwMode="auto">
          <a:xfrm>
            <a:off x="4214813" y="6072188"/>
            <a:ext cx="4714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Fonte: Adaptado de Prof. Cristiano Portela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929313" cy="4983163"/>
          </a:xfrm>
        </p:spPr>
        <p:txBody>
          <a:bodyPr/>
          <a:lstStyle/>
          <a:p>
            <a:pPr eaLnBrk="1" hangingPunct="1"/>
            <a:r>
              <a:rPr lang="pt-BR" sz="2400" b="1" dirty="0" smtClean="0"/>
              <a:t>Década de 90</a:t>
            </a:r>
          </a:p>
          <a:p>
            <a:pPr marL="457200" lvl="1" indent="0" eaLnBrk="1" hangingPunct="1">
              <a:buNone/>
            </a:pPr>
            <a:endParaRPr lang="pt-BR" sz="2000" b="1" dirty="0" smtClean="0"/>
          </a:p>
          <a:p>
            <a:pPr lvl="1" eaLnBrk="1" hangingPunct="1">
              <a:buFont typeface="Arial" charset="0"/>
              <a:buChar char="•"/>
            </a:pPr>
            <a:r>
              <a:rPr lang="pt-BR" sz="2000" b="1" dirty="0" smtClean="0"/>
              <a:t>OOA e OOD </a:t>
            </a:r>
            <a:r>
              <a:rPr lang="pt-BR" sz="2000" dirty="0" smtClean="0"/>
              <a:t>- Análise Baseada em Objetos e Projeto Baseado em Objetos (</a:t>
            </a:r>
            <a:r>
              <a:rPr lang="en-US" sz="2000" dirty="0" smtClean="0"/>
              <a:t>Peter Coad e Eduard Yourdon)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smtClean="0"/>
              <a:t>Dividem a Análise em classes e objetos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/>
              <a:t>Em 1996 é criada a  </a:t>
            </a:r>
            <a:r>
              <a:rPr lang="pt-BR" sz="2000" b="1" dirty="0"/>
              <a:t>UML</a:t>
            </a:r>
            <a:r>
              <a:rPr lang="pt-BR" sz="2000" dirty="0"/>
              <a:t> -Linguagem Unificada de Modelagem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dirty="0" err="1"/>
              <a:t>Rational</a:t>
            </a:r>
            <a:r>
              <a:rPr lang="pt-BR" sz="2000" dirty="0"/>
              <a:t> (Jacobson) lança o  </a:t>
            </a:r>
            <a:r>
              <a:rPr lang="pt-BR" sz="2000" b="1" dirty="0"/>
              <a:t>RUP</a:t>
            </a:r>
            <a:r>
              <a:rPr lang="pt-BR" sz="2000" dirty="0"/>
              <a:t> -</a:t>
            </a:r>
            <a:r>
              <a:rPr lang="pt-BR" sz="2000" dirty="0" err="1"/>
              <a:t>Rational</a:t>
            </a:r>
            <a:r>
              <a:rPr lang="pt-BR" sz="2000" dirty="0"/>
              <a:t> </a:t>
            </a:r>
            <a:r>
              <a:rPr lang="pt-BR" sz="2000" dirty="0" err="1"/>
              <a:t>Unified</a:t>
            </a:r>
            <a:r>
              <a:rPr lang="pt-BR" sz="2000" dirty="0"/>
              <a:t> </a:t>
            </a:r>
            <a:r>
              <a:rPr lang="pt-BR" sz="2000" dirty="0" err="1"/>
              <a:t>Process</a:t>
            </a:r>
            <a:r>
              <a:rPr lang="pt-BR" sz="2000" dirty="0"/>
              <a:t>, como processo de desenvolvimento unificado de software (OO, UML, RUP)</a:t>
            </a:r>
            <a:endParaRPr lang="pt-BR" sz="1600" dirty="0" smtClean="0"/>
          </a:p>
          <a:p>
            <a:pPr lvl="1" eaLnBrk="1" hangingPunct="1">
              <a:buFont typeface="Arial" charset="0"/>
              <a:buNone/>
            </a:pPr>
            <a:endParaRPr lang="pt-BR" i="1" dirty="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dirty="0" smtClean="0"/>
          </a:p>
          <a:p>
            <a:pPr lvl="1" eaLnBrk="1" hangingPunct="1"/>
            <a:endParaRPr lang="pt-BR" sz="2400" dirty="0" smtClean="0"/>
          </a:p>
          <a:p>
            <a:pPr lvl="2" eaLnBrk="1" hangingPunct="1"/>
            <a:endParaRPr lang="pt-BR" sz="2000" dirty="0" smtClean="0"/>
          </a:p>
          <a:p>
            <a:pPr lvl="1" eaLnBrk="1" hangingPunct="1">
              <a:buFont typeface="Arial" charset="0"/>
              <a:buNone/>
            </a:pPr>
            <a:endParaRPr lang="pt-BR" dirty="0" smtClean="0"/>
          </a:p>
        </p:txBody>
      </p:sp>
      <p:sp>
        <p:nvSpPr>
          <p:cNvPr id="49154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Origens da Modelagem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E22267A5-556F-4168-AC7D-A1CB06A023EE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21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49157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49158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0" y="2000250"/>
            <a:ext cx="23145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9" name="CaixaDeTexto 15"/>
          <p:cNvSpPr txBox="1">
            <a:spLocks noChangeArrowheads="1"/>
          </p:cNvSpPr>
          <p:nvPr/>
        </p:nvSpPr>
        <p:spPr bwMode="auto">
          <a:xfrm>
            <a:off x="4214813" y="6072188"/>
            <a:ext cx="4714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Fonte: Adaptado de Prof. Cristiano Portela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143000"/>
            <a:ext cx="5500688" cy="4983163"/>
          </a:xfrm>
        </p:spPr>
        <p:txBody>
          <a:bodyPr/>
          <a:lstStyle/>
          <a:p>
            <a:pPr eaLnBrk="1" hangingPunct="1"/>
            <a:r>
              <a:rPr lang="pt-BR" sz="2400" b="1" smtClean="0"/>
              <a:t>Ferramentas e tecnologias avançadas são a solução!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400" i="1" smtClean="0"/>
              <a:t>Um tolo com uma ferramenta ou tecnologia continua sendo um tolo</a:t>
            </a:r>
          </a:p>
          <a:p>
            <a:pPr eaLnBrk="1" hangingPunct="1"/>
            <a:r>
              <a:rPr lang="pt-BR" sz="2400" b="1" smtClean="0"/>
              <a:t>Atrasos podem ser resolvidos contratando mais programadores adicionais!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400" i="1" smtClean="0"/>
              <a:t>E o treinamento, integração e aspectos sociais???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400" i="1" smtClean="0"/>
              <a:t>Isso pode fazer com que o projeto atrase mais!</a:t>
            </a:r>
          </a:p>
          <a:p>
            <a:pPr lvl="2" eaLnBrk="1" hangingPunct="1"/>
            <a:endParaRPr lang="pt-BR" sz="2000" i="1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52226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22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5063" y="1000125"/>
            <a:ext cx="2357437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F62403F1-B48A-4CC6-85FC-C90E340BFDEE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22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2230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marL="742950" lvl="2" indent="-342900" eaLnBrk="1" hangingPunct="1">
              <a:buFont typeface="Arial" charset="0"/>
              <a:buNone/>
              <a:defRPr/>
            </a:pPr>
            <a:r>
              <a:rPr lang="pt-BR" sz="2000" i="1" dirty="0" smtClean="0"/>
              <a:t>“Um homem pode construir uma casa em 20 dias, então contratando 20 homens a casa fica pronta em 1 dia?”</a:t>
            </a:r>
          </a:p>
          <a:p>
            <a:pPr eaLnBrk="1" hangingPunct="1">
              <a:defRPr/>
            </a:pPr>
            <a:endParaRPr lang="pt-BR" sz="2400" b="1" dirty="0" smtClean="0"/>
          </a:p>
          <a:p>
            <a:pPr lvl="2" eaLnBrk="1" hangingPunct="1">
              <a:buFont typeface="Arial" pitchFamily="34" charset="0"/>
              <a:buChar char="•"/>
              <a:defRPr/>
            </a:pPr>
            <a:endParaRPr lang="pt-BR" sz="2000" i="1" dirty="0" smtClean="0"/>
          </a:p>
          <a:p>
            <a:pPr lvl="2" eaLnBrk="1" hangingPunct="1">
              <a:buFont typeface="Arial" pitchFamily="34" charset="0"/>
              <a:buChar char="•"/>
              <a:defRPr/>
            </a:pPr>
            <a:endParaRPr lang="pt-BR" sz="2000" dirty="0" smtClean="0"/>
          </a:p>
          <a:p>
            <a:pPr lvl="1" eaLnBrk="1" hangingPunct="1">
              <a:buFont typeface="Wingdings" pitchFamily="2" charset="2"/>
              <a:buChar char="Ø"/>
              <a:defRPr/>
            </a:pPr>
            <a:endParaRPr lang="pt-BR" i="1" dirty="0" smtClean="0"/>
          </a:p>
          <a:p>
            <a:pPr lvl="1" eaLnBrk="1" hangingPunct="1">
              <a:buFont typeface="Wingdings" pitchFamily="2" charset="2"/>
              <a:buChar char="Ø"/>
              <a:defRPr/>
            </a:pPr>
            <a:endParaRPr lang="pt-BR" i="1" dirty="0" smtClean="0"/>
          </a:p>
          <a:p>
            <a:pPr lvl="1" eaLnBrk="1" hangingPunct="1">
              <a:defRPr/>
            </a:pPr>
            <a:endParaRPr lang="pt-BR" sz="2400" dirty="0" smtClean="0"/>
          </a:p>
          <a:p>
            <a:pPr lvl="2" eaLnBrk="1" hangingPunct="1">
              <a:defRPr/>
            </a:pPr>
            <a:endParaRPr lang="pt-BR" sz="2000" dirty="0" smtClean="0"/>
          </a:p>
          <a:p>
            <a:pPr lvl="1" eaLnBrk="1" hangingPunct="1">
              <a:buFont typeface="Arial" charset="0"/>
              <a:buNone/>
              <a:defRPr/>
            </a:pPr>
            <a:endParaRPr lang="pt-BR" dirty="0" smtClean="0"/>
          </a:p>
        </p:txBody>
      </p:sp>
      <p:sp>
        <p:nvSpPr>
          <p:cNvPr id="53250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7B7BFC93-BC57-4C66-B479-C491746FF0CE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23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3253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5357813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Mudanças podem ser acomodadas facilmente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Elas sempre irão acontecer.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Quanto mais tardia, mais cara.</a:t>
            </a:r>
          </a:p>
          <a:p>
            <a:pPr eaLnBrk="1" hangingPunct="1"/>
            <a:r>
              <a:rPr lang="pt-BR" sz="2400" b="1" smtClean="0"/>
              <a:t>Uma idéia superficial sobre o problema é suficiente para começar a programar. Depois nós preenchemos os detalhes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A comunicação é essencial. Deve haver muita conversa entre os analistas, clientes e programadores.</a:t>
            </a:r>
          </a:p>
          <a:p>
            <a:pPr lvl="2" eaLnBrk="1" hangingPunct="1"/>
            <a:endParaRPr lang="pt-BR" sz="2000" b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54274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Mitos</a:t>
            </a:r>
          </a:p>
          <a:p>
            <a:endParaRPr lang="pt-BR" sz="2400" b="1">
              <a:solidFill>
                <a:schemeClr val="tx2"/>
              </a:solidFill>
            </a:endParaRP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18093261-33CA-40C5-A2A2-5FB85C16E21C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24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4277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54278" name="Picture 2" descr="C:\Users\jader\AppData\Local\Microsoft\Windows\Temporary Internet Files\Content.IE5\7PZJ0CEM\MC900014487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88" y="2500313"/>
            <a:ext cx="2643187" cy="218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8072438" cy="4911725"/>
          </a:xfrm>
        </p:spPr>
        <p:txBody>
          <a:bodyPr/>
          <a:lstStyle/>
          <a:p>
            <a:pPr lvl="2" eaLnBrk="1" hangingPunct="1"/>
            <a:endParaRPr lang="pt-BR" sz="2000" i="1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5529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25" y="1285875"/>
            <a:ext cx="6429375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CaixaDeTexto 7"/>
          <p:cNvSpPr txBox="1">
            <a:spLocks noChangeArrowheads="1"/>
          </p:cNvSpPr>
          <p:nvPr/>
        </p:nvSpPr>
        <p:spPr bwMode="auto">
          <a:xfrm>
            <a:off x="1571625" y="5929313"/>
            <a:ext cx="65008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Fonte: Prof. Lincoln Rabelo</a:t>
            </a:r>
          </a:p>
        </p:txBody>
      </p:sp>
      <p:sp>
        <p:nvSpPr>
          <p:cNvPr id="9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FC4EEC41-0E91-4FD9-A11C-295982569E6D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25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5303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 bwMode="auto">
          <a:xfrm>
            <a:off x="642938" y="1000125"/>
            <a:ext cx="7786687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pt-BR" sz="2400" b="1" dirty="0">
                <a:latin typeface="+mn-lt"/>
                <a:cs typeface="+mn-cs"/>
              </a:rPr>
              <a:t>Impactos nas alterações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endParaRPr lang="pt-BR" sz="2000" dirty="0">
              <a:latin typeface="+mn-lt"/>
              <a:cs typeface="+mn-cs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None/>
              <a:defRPr/>
            </a:pPr>
            <a:endParaRPr lang="pt-BR" sz="280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Mitos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323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857250" y="1571625"/>
            <a:ext cx="2733675" cy="2286000"/>
          </a:xfrm>
        </p:spPr>
      </p:pic>
      <p:sp>
        <p:nvSpPr>
          <p:cNvPr id="10" name="Texto explicativo em elipse 9"/>
          <p:cNvSpPr/>
          <p:nvPr/>
        </p:nvSpPr>
        <p:spPr>
          <a:xfrm>
            <a:off x="3857625" y="1071563"/>
            <a:ext cx="2357438" cy="1500187"/>
          </a:xfrm>
          <a:prstGeom prst="wedgeEllipseCallout">
            <a:avLst>
              <a:gd name="adj1" fmla="val -159195"/>
              <a:gd name="adj2" fmla="val 215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pt-BR" dirty="0"/>
              <a:t>Terminei o programa. O problema está resolvido!</a:t>
            </a:r>
          </a:p>
        </p:txBody>
      </p:sp>
      <p:sp>
        <p:nvSpPr>
          <p:cNvPr id="12" name="Texto explicativo em elipse 11"/>
          <p:cNvSpPr/>
          <p:nvPr/>
        </p:nvSpPr>
        <p:spPr>
          <a:xfrm>
            <a:off x="4357688" y="3500438"/>
            <a:ext cx="3143250" cy="1857375"/>
          </a:xfrm>
          <a:prstGeom prst="wedgeEllipseCallout">
            <a:avLst>
              <a:gd name="adj1" fmla="val 85476"/>
              <a:gd name="adj2" fmla="val 135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BR" dirty="0"/>
              <a:t>Sinto dizer mas...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pt-BR" dirty="0"/>
              <a:t>50- 70% de todo o esforço ocorre depois da primeira versão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C96E6778-A2FA-4DB1-9AAE-CB5902755C16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26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6327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778668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“Se eu decidir terceirizar o projeto de um software vou poder relaxar  e deixar que aquela empresa o elabore”</a:t>
            </a:r>
          </a:p>
          <a:p>
            <a:pPr eaLnBrk="1" hangingPunct="1"/>
            <a:r>
              <a:rPr lang="pt-BR" sz="2400" b="1" smtClean="0"/>
              <a:t>Realidade: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400" smtClean="0"/>
              <a:t>Se a empresa não sabe como gerir e controlar o projeto de software internamente, certamente terá problemas quando terceirizar esses projetos</a:t>
            </a:r>
          </a:p>
          <a:p>
            <a:pPr eaLnBrk="1" hangingPunct="1"/>
            <a:endParaRPr lang="pt-BR" sz="2000" b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57346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Mitos</a:t>
            </a:r>
          </a:p>
          <a:p>
            <a:endParaRPr lang="pt-BR" sz="2400" b="1">
              <a:solidFill>
                <a:schemeClr val="tx2"/>
              </a:solidFill>
            </a:endParaRP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F37D69AA-E215-4EAF-8561-598831E71DD2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27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7349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57350" name="Picture 2" descr="C:\Users\jader\AppData\Local\Microsoft\Windows\Temporary Internet Files\Content.IE5\7PZJ0CEM\MP900431836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88" y="4000500"/>
            <a:ext cx="3071812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778668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“A engenharia de software vai nos fazer criar documentação volumosa e desnecessária e certamente nos atrasará”</a:t>
            </a:r>
          </a:p>
          <a:p>
            <a:pPr eaLnBrk="1" hangingPunct="1"/>
            <a:r>
              <a:rPr lang="pt-BR" sz="2400" b="1" smtClean="0"/>
              <a:t>Realidade: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A engenharia de software não se relaciona apenas em criar documentos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Mas esse mito não tem um pouco de realidade mesmo???</a:t>
            </a:r>
          </a:p>
          <a:p>
            <a:pPr lvl="1" eaLnBrk="1" hangingPunct="1">
              <a:buFont typeface="Arial" charset="0"/>
              <a:buChar char="•"/>
            </a:pPr>
            <a:r>
              <a:rPr lang="pt-BR" sz="2000" smtClean="0"/>
              <a:t>Este pensamento não está ligado mais aos métodos utilizados???</a:t>
            </a:r>
          </a:p>
          <a:p>
            <a:pPr lvl="1" eaLnBrk="1" hangingPunct="1">
              <a:buFont typeface="Arial" charset="0"/>
              <a:buChar char="•"/>
            </a:pPr>
            <a:endParaRPr lang="pt-BR" sz="2000" smtClean="0"/>
          </a:p>
          <a:p>
            <a:pPr eaLnBrk="1" hangingPunct="1"/>
            <a:endParaRPr lang="pt-BR" sz="2000" b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>
              <a:buFont typeface="Wingdings" pitchFamily="2" charset="2"/>
              <a:buChar char="Ø"/>
            </a:pPr>
            <a:endParaRPr lang="pt-BR" i="1" smtClean="0"/>
          </a:p>
          <a:p>
            <a:pPr lvl="1" eaLnBrk="1" hangingPunct="1"/>
            <a:endParaRPr lang="pt-BR" sz="2400" smtClean="0"/>
          </a:p>
          <a:p>
            <a:pPr lvl="2" eaLnBrk="1" hangingPunct="1"/>
            <a:endParaRPr lang="pt-BR" sz="2000" smtClean="0"/>
          </a:p>
          <a:p>
            <a:pPr lvl="1" eaLnBrk="1" hangingPunct="1">
              <a:buFont typeface="Arial" charset="0"/>
              <a:buNone/>
            </a:pPr>
            <a:endParaRPr lang="pt-BR" smtClean="0"/>
          </a:p>
        </p:txBody>
      </p:sp>
      <p:sp>
        <p:nvSpPr>
          <p:cNvPr id="58370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Mitos</a:t>
            </a:r>
          </a:p>
          <a:p>
            <a:endParaRPr lang="pt-BR" sz="2400" b="1">
              <a:solidFill>
                <a:schemeClr val="tx2"/>
              </a:solidFill>
            </a:endParaRP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44F0CB83-AE94-47B2-858E-4C25181853B5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28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8373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58374" name="Picture 2" descr="C:\Users\jader\AppData\Local\Microsoft\Windows\Temporary Internet Files\Content.IE5\DVIX4MWP\MC900234625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8" y="4500563"/>
            <a:ext cx="1631950" cy="182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4786313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Programação</a:t>
            </a:r>
          </a:p>
          <a:p>
            <a:pPr lvl="1" eaLnBrk="1" hangingPunct="1"/>
            <a:r>
              <a:rPr lang="pt-BR" sz="2000" smtClean="0"/>
              <a:t>Codificar sem planejamento</a:t>
            </a:r>
          </a:p>
          <a:p>
            <a:pPr lvl="1" eaLnBrk="1" hangingPunct="1"/>
            <a:r>
              <a:rPr lang="pt-BR" sz="2000" smtClean="0"/>
              <a:t>Sistemas de pequeno porte</a:t>
            </a:r>
          </a:p>
          <a:p>
            <a:pPr lvl="1" eaLnBrk="1" hangingPunct="1"/>
            <a:r>
              <a:rPr lang="pt-BR" sz="2000" smtClean="0"/>
              <a:t>Poucas pessoas envolvidas</a:t>
            </a:r>
          </a:p>
          <a:p>
            <a:pPr lvl="1" eaLnBrk="1" hangingPunct="1"/>
            <a:r>
              <a:rPr lang="pt-BR" sz="2000" smtClean="0"/>
              <a:t>Custo baixo, pouco retorno</a:t>
            </a:r>
          </a:p>
          <a:p>
            <a:pPr lvl="1" eaLnBrk="1" hangingPunct="1"/>
            <a:endParaRPr lang="pt-BR" smtClean="0"/>
          </a:p>
        </p:txBody>
      </p:sp>
      <p:sp>
        <p:nvSpPr>
          <p:cNvPr id="59394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Programação X Engenharia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39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88" y="2071688"/>
            <a:ext cx="27400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D454F9F1-AA7B-4F45-AE4A-0DCC7D59BAB2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29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59398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4786313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Engenharia de software</a:t>
            </a:r>
          </a:p>
          <a:p>
            <a:pPr lvl="1" eaLnBrk="1" hangingPunct="1"/>
            <a:r>
              <a:rPr lang="pt-BR" sz="2000" smtClean="0"/>
              <a:t>Planejamento</a:t>
            </a:r>
          </a:p>
          <a:p>
            <a:pPr lvl="1" eaLnBrk="1" hangingPunct="1"/>
            <a:r>
              <a:rPr lang="pt-BR" sz="2000" smtClean="0"/>
              <a:t>Sistemas complexos</a:t>
            </a:r>
          </a:p>
          <a:p>
            <a:pPr lvl="1" eaLnBrk="1" hangingPunct="1"/>
            <a:r>
              <a:rPr lang="pt-BR" sz="2000" smtClean="0"/>
              <a:t>Tempo</a:t>
            </a:r>
          </a:p>
          <a:p>
            <a:pPr lvl="1" eaLnBrk="1" hangingPunct="1"/>
            <a:r>
              <a:rPr lang="pt-BR" sz="2000" smtClean="0"/>
              <a:t>Custo alto/investimento</a:t>
            </a:r>
          </a:p>
          <a:p>
            <a:pPr lvl="1" eaLnBrk="1" hangingPunct="1"/>
            <a:r>
              <a:rPr lang="pt-BR" sz="2000" smtClean="0"/>
              <a:t>Desenvolvimento em equipe</a:t>
            </a:r>
          </a:p>
          <a:p>
            <a:pPr lvl="1" eaLnBrk="1" hangingPunct="1"/>
            <a:r>
              <a:rPr lang="pt-BR" sz="2000" smtClean="0"/>
              <a:t>Projeto de software</a:t>
            </a:r>
          </a:p>
          <a:p>
            <a:pPr lvl="1" eaLnBrk="1" hangingPunct="1"/>
            <a:r>
              <a:rPr lang="pt-BR" sz="2000" smtClean="0"/>
              <a:t>Documentação/modelos</a:t>
            </a:r>
          </a:p>
          <a:p>
            <a:pPr lvl="1" eaLnBrk="1" hangingPunct="1"/>
            <a:r>
              <a:rPr lang="pt-BR" sz="2000" smtClean="0"/>
              <a:t>Comunicação</a:t>
            </a:r>
          </a:p>
          <a:p>
            <a:pPr lvl="1" eaLnBrk="1" hangingPunct="1"/>
            <a:r>
              <a:rPr lang="pt-BR" sz="2000" smtClean="0"/>
              <a:t>Equipe multidisciplinar (analistas, gerentes, clientes, programadores etc...)</a:t>
            </a:r>
          </a:p>
          <a:p>
            <a:pPr lvl="1" eaLnBrk="1" hangingPunct="1"/>
            <a:endParaRPr lang="pt-BR" smtClean="0"/>
          </a:p>
        </p:txBody>
      </p:sp>
      <p:sp>
        <p:nvSpPr>
          <p:cNvPr id="6041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Programação X Engenharia de Software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42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38" y="2143125"/>
            <a:ext cx="2500312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83C3A139-165D-4820-BCB8-9BA8D69FB1B8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30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0422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52149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Desenvolvimento de sistemas grandes e complexos</a:t>
            </a:r>
          </a:p>
          <a:p>
            <a:pPr eaLnBrk="1" hangingPunct="1"/>
            <a:r>
              <a:rPr lang="pt-BR" sz="2400" b="1" smtClean="0"/>
              <a:t>Os sistemas precisam satisfazer os requisitos dos clientes</a:t>
            </a:r>
          </a:p>
          <a:p>
            <a:pPr eaLnBrk="1" hangingPunct="1"/>
            <a:r>
              <a:rPr lang="pt-BR" sz="2400" b="1" smtClean="0"/>
              <a:t>Software é desenvolvido por equipes e não individualmente</a:t>
            </a:r>
          </a:p>
          <a:p>
            <a:pPr eaLnBrk="1" hangingPunct="1"/>
            <a:r>
              <a:rPr lang="pt-BR" sz="2400" b="1" smtClean="0"/>
              <a:t>Espera-se que um software tenha uma “longa vida” e que seja usado por muitas pessoas</a:t>
            </a:r>
          </a:p>
          <a:p>
            <a:pPr eaLnBrk="1" hangingPunct="1"/>
            <a:endParaRPr lang="pt-BR" sz="2400" b="1" smtClean="0"/>
          </a:p>
          <a:p>
            <a:pPr eaLnBrk="1" hangingPunct="1"/>
            <a:endParaRPr lang="pt-BR" smtClean="0"/>
          </a:p>
        </p:txBody>
      </p:sp>
      <p:sp>
        <p:nvSpPr>
          <p:cNvPr id="61442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Cenário Atual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D30751B5-209F-4E94-B64D-E12686852A33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31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1445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52149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Aumento de demanda de qualidade</a:t>
            </a:r>
          </a:p>
          <a:p>
            <a:pPr eaLnBrk="1" hangingPunct="1"/>
            <a:r>
              <a:rPr lang="pt-BR" sz="2400" b="1" smtClean="0"/>
              <a:t>Pressão sobre custo e o tempo de desenvolvimento</a:t>
            </a:r>
          </a:p>
          <a:p>
            <a:pPr eaLnBrk="1" hangingPunct="1"/>
            <a:r>
              <a:rPr lang="pt-BR" sz="2400" b="1" smtClean="0"/>
              <a:t>Tempo escasso</a:t>
            </a:r>
          </a:p>
          <a:p>
            <a:pPr eaLnBrk="1" hangingPunct="1"/>
            <a:r>
              <a:rPr lang="pt-BR" sz="2400" b="1" smtClean="0"/>
              <a:t>Problemas na coordenação de projetos</a:t>
            </a:r>
          </a:p>
          <a:p>
            <a:pPr eaLnBrk="1" hangingPunct="1"/>
            <a:r>
              <a:rPr lang="pt-BR" sz="2400" b="1" smtClean="0"/>
              <a:t>Recursos escassos</a:t>
            </a:r>
          </a:p>
          <a:p>
            <a:pPr eaLnBrk="1" hangingPunct="1"/>
            <a:endParaRPr lang="pt-BR" sz="2400" b="1" smtClean="0"/>
          </a:p>
          <a:p>
            <a:pPr eaLnBrk="1" hangingPunct="1"/>
            <a:endParaRPr lang="pt-BR" smtClean="0"/>
          </a:p>
        </p:txBody>
      </p:sp>
      <p:sp>
        <p:nvSpPr>
          <p:cNvPr id="62466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Problemas Atuais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46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9313" y="2143125"/>
            <a:ext cx="285750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EEAA3A8C-1239-483D-85B9-315BBC922442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32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2470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4" y="1214438"/>
            <a:ext cx="6521921" cy="4911725"/>
          </a:xfrm>
        </p:spPr>
        <p:txBody>
          <a:bodyPr/>
          <a:lstStyle/>
          <a:p>
            <a:pPr lvl="1" eaLnBrk="1" hangingPunct="1"/>
            <a:r>
              <a:rPr lang="pt-BR" sz="2400" b="1" dirty="0" smtClean="0"/>
              <a:t>46 % atrasados ou acima do orçamento.</a:t>
            </a:r>
          </a:p>
          <a:p>
            <a:pPr lvl="1" eaLnBrk="1" hangingPunct="1"/>
            <a:r>
              <a:rPr lang="pt-BR" sz="2400" b="1" dirty="0" smtClean="0"/>
              <a:t>Destes (46%), 28 % foram cancelados.</a:t>
            </a:r>
          </a:p>
          <a:p>
            <a:pPr eaLnBrk="1" hangingPunct="1"/>
            <a:endParaRPr lang="pt-BR" dirty="0" smtClean="0"/>
          </a:p>
        </p:txBody>
      </p:sp>
      <p:sp>
        <p:nvSpPr>
          <p:cNvPr id="63490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Problemas Atuais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2E4EDCE4-DBA5-460A-9BFA-D0A5DAD38434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33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3493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778668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Alguns motivos</a:t>
            </a:r>
          </a:p>
          <a:p>
            <a:pPr lvl="1" eaLnBrk="1" hangingPunct="1"/>
            <a:r>
              <a:rPr lang="pt-BR" sz="2400" smtClean="0"/>
              <a:t>Compreensão incompleta ou imprecisa das necessidades do usuário</a:t>
            </a:r>
          </a:p>
          <a:p>
            <a:pPr lvl="1" eaLnBrk="1" hangingPunct="1"/>
            <a:r>
              <a:rPr lang="pt-BR" sz="2400" smtClean="0"/>
              <a:t>Dificuldade de comunicação com o usuário</a:t>
            </a:r>
          </a:p>
          <a:p>
            <a:pPr lvl="1" eaLnBrk="1" hangingPunct="1"/>
            <a:r>
              <a:rPr lang="pt-BR" sz="2400" smtClean="0"/>
              <a:t>Falta de habilidade para lidar com os requisitos que evoluem</a:t>
            </a:r>
          </a:p>
          <a:p>
            <a:pPr lvl="1" eaLnBrk="1" hangingPunct="1"/>
            <a:r>
              <a:rPr lang="pt-BR" sz="2400" smtClean="0"/>
              <a:t>Módulos (programas) incompatíveis</a:t>
            </a:r>
          </a:p>
          <a:p>
            <a:pPr lvl="1" eaLnBrk="1" hangingPunct="1"/>
            <a:r>
              <a:rPr lang="pt-BR" sz="2400" smtClean="0"/>
              <a:t>Descoberta de defeitos graves no projeto em etapas avançadas do desenvolvimento</a:t>
            </a:r>
          </a:p>
          <a:p>
            <a:pPr lvl="1" eaLnBrk="1" hangingPunct="1"/>
            <a:r>
              <a:rPr lang="pt-BR" sz="2400" smtClean="0"/>
              <a:t>Desempenho abaixo do esperado do software</a:t>
            </a:r>
          </a:p>
          <a:p>
            <a:pPr lvl="1" eaLnBrk="1" hangingPunct="1"/>
            <a:r>
              <a:rPr lang="pt-BR" sz="2400" smtClean="0"/>
              <a:t>Falta de coordenação da equipe</a:t>
            </a:r>
          </a:p>
          <a:p>
            <a:pPr lvl="1" eaLnBrk="1" hangingPunct="1"/>
            <a:endParaRPr lang="pt-BR" sz="2400" smtClean="0"/>
          </a:p>
        </p:txBody>
      </p:sp>
      <p:sp>
        <p:nvSpPr>
          <p:cNvPr id="64514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Problemas Atuais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DA69703E-EB19-43F4-85B9-680B12AC1F95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34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4517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778668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Alguns motivos (cont.)</a:t>
            </a:r>
          </a:p>
          <a:p>
            <a:pPr lvl="1" eaLnBrk="1" hangingPunct="1"/>
            <a:r>
              <a:rPr lang="pt-BR" sz="2400" smtClean="0"/>
              <a:t>Nenhum processo de gerência de requisitos definido</a:t>
            </a:r>
          </a:p>
          <a:p>
            <a:pPr lvl="1" eaLnBrk="1" hangingPunct="1"/>
            <a:r>
              <a:rPr lang="pt-BR" sz="2400" smtClean="0"/>
              <a:t>Complexidade crescente</a:t>
            </a:r>
          </a:p>
          <a:p>
            <a:pPr lvl="1" eaLnBrk="1" hangingPunct="1"/>
            <a:r>
              <a:rPr lang="pt-BR" sz="2400" smtClean="0"/>
              <a:t>Testes insuficientes</a:t>
            </a:r>
          </a:p>
          <a:p>
            <a:pPr lvl="1" eaLnBrk="1" hangingPunct="1"/>
            <a:r>
              <a:rPr lang="pt-BR" sz="2400" smtClean="0"/>
              <a:t>Dificuldade em lidar e gerenciar riscos</a:t>
            </a:r>
          </a:p>
          <a:p>
            <a:pPr lvl="1" eaLnBrk="1" hangingPunct="1"/>
            <a:r>
              <a:rPr lang="pt-BR" sz="2400" smtClean="0"/>
              <a:t>Inconsistências não detectadas em nível de análise, projeto e implementação</a:t>
            </a:r>
          </a:p>
          <a:p>
            <a:pPr lvl="1" eaLnBrk="1" hangingPunct="1"/>
            <a:r>
              <a:rPr lang="pt-BR" sz="2400" smtClean="0"/>
              <a:t>Comunicação ambígua e imprecisa entre os envolvidos</a:t>
            </a:r>
          </a:p>
        </p:txBody>
      </p:sp>
      <p:sp>
        <p:nvSpPr>
          <p:cNvPr id="65538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Problemas Atuais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5862FF2D-F6DB-42C0-9129-96936A4F5954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35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5541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Problemas Atuais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56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8" y="1000125"/>
            <a:ext cx="845820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DECBA703-5F6B-47AF-9C81-5321155C0547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36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6565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52149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Projetos de software ainda atrasam</a:t>
            </a:r>
          </a:p>
          <a:p>
            <a:pPr eaLnBrk="1" hangingPunct="1"/>
            <a:r>
              <a:rPr lang="pt-BR" sz="2400" b="1" smtClean="0"/>
              <a:t>Custos previstos são irrealistas. São muitas vezes baseados no “achismo”</a:t>
            </a:r>
          </a:p>
          <a:p>
            <a:pPr eaLnBrk="1" hangingPunct="1"/>
            <a:r>
              <a:rPr lang="pt-BR" sz="2400" b="1" smtClean="0"/>
              <a:t>A qualidade está relacionada a quem desenvolve</a:t>
            </a:r>
          </a:p>
          <a:p>
            <a:pPr lvl="1" eaLnBrk="1" hangingPunct="1"/>
            <a:r>
              <a:rPr lang="pt-BR" sz="2000" smtClean="0"/>
              <a:t>“vou passar esta tarefa para o fulano porque ele é melhor...”</a:t>
            </a:r>
          </a:p>
          <a:p>
            <a:pPr eaLnBrk="1" hangingPunct="1"/>
            <a:r>
              <a:rPr lang="pt-BR" sz="2400" b="1" smtClean="0"/>
              <a:t>Arte ao invés de engenharia</a:t>
            </a:r>
          </a:p>
          <a:p>
            <a:pPr lvl="1" eaLnBrk="1" hangingPunct="1"/>
            <a:r>
              <a:rPr lang="pt-BR" sz="2000" smtClean="0"/>
              <a:t>sua empresa possui artista?</a:t>
            </a:r>
          </a:p>
          <a:p>
            <a:pPr eaLnBrk="1" hangingPunct="1"/>
            <a:endParaRPr lang="pt-BR" smtClean="0"/>
          </a:p>
        </p:txBody>
      </p:sp>
      <p:sp>
        <p:nvSpPr>
          <p:cNvPr id="67586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Ainda Hoje...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88" y="1785938"/>
            <a:ext cx="285750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479DAC15-C35A-4E17-833E-3571E0605DEB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37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7590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5214938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Procure realizar estimativas detalhadas.</a:t>
            </a:r>
          </a:p>
          <a:p>
            <a:pPr eaLnBrk="1" hangingPunct="1"/>
            <a:r>
              <a:rPr lang="pt-BR" sz="2400" b="1" smtClean="0"/>
              <a:t>Procure usar um modelo de desenvolvimento</a:t>
            </a:r>
          </a:p>
          <a:p>
            <a:pPr lvl="1" eaLnBrk="1" hangingPunct="1"/>
            <a:r>
              <a:rPr lang="pt-BR" sz="2400" smtClean="0"/>
              <a:t>Definindo funcionalidades críticas</a:t>
            </a:r>
          </a:p>
          <a:p>
            <a:pPr lvl="1" eaLnBrk="1" hangingPunct="1"/>
            <a:r>
              <a:rPr lang="pt-BR" sz="2400" smtClean="0"/>
              <a:t>Deslocando as demais funcionalidades para fases posteriores</a:t>
            </a:r>
          </a:p>
          <a:p>
            <a:pPr eaLnBrk="1" hangingPunct="1"/>
            <a:r>
              <a:rPr lang="pt-BR" sz="2400" b="1" smtClean="0"/>
              <a:t>Explique para o cliente o porquê do prazo, com base em estimativas anteriores</a:t>
            </a:r>
          </a:p>
        </p:txBody>
      </p:sp>
      <p:sp>
        <p:nvSpPr>
          <p:cNvPr id="68610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Algumas Soluções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6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88" y="2214563"/>
            <a:ext cx="2781300" cy="211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59B8626B-0DB7-4012-A83E-0F09A6E8A9FF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38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8614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714375" y="1214438"/>
            <a:ext cx="7358063" cy="4911725"/>
          </a:xfrm>
        </p:spPr>
        <p:txBody>
          <a:bodyPr/>
          <a:lstStyle/>
          <a:p>
            <a:pPr eaLnBrk="1" hangingPunct="1"/>
            <a:r>
              <a:rPr lang="pt-BR" sz="2400" b="1" smtClean="0"/>
              <a:t>Qual o intuito da engenharia de software?</a:t>
            </a:r>
          </a:p>
          <a:p>
            <a:pPr eaLnBrk="1" hangingPunct="1"/>
            <a:endParaRPr lang="pt-BR" sz="2400" b="1" smtClean="0"/>
          </a:p>
          <a:p>
            <a:pPr eaLnBrk="1" hangingPunct="1">
              <a:buFont typeface="Arial" charset="0"/>
              <a:buNone/>
            </a:pPr>
            <a:r>
              <a:rPr lang="pt-BR" sz="2400" b="1" smtClean="0"/>
              <a:t>	“fornecer uma estrutura para construção de software  com alta qualidade”</a:t>
            </a:r>
          </a:p>
        </p:txBody>
      </p:sp>
      <p:sp>
        <p:nvSpPr>
          <p:cNvPr id="69634" name="CaixaDeTexto 3"/>
          <p:cNvSpPr txBox="1">
            <a:spLocks noChangeArrowheads="1"/>
          </p:cNvSpPr>
          <p:nvPr/>
        </p:nvSpPr>
        <p:spPr bwMode="auto">
          <a:xfrm>
            <a:off x="714375" y="428625"/>
            <a:ext cx="8429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chemeClr val="tx2"/>
                </a:solidFill>
              </a:rPr>
              <a:t>Concluindo...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85813" y="857250"/>
            <a:ext cx="8358187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5"/>
          <p:cNvSpPr txBox="1">
            <a:spLocks/>
          </p:cNvSpPr>
          <p:nvPr/>
        </p:nvSpPr>
        <p:spPr>
          <a:xfrm>
            <a:off x="8358188" y="6500813"/>
            <a:ext cx="785812" cy="365125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/>
          <a:p>
            <a:pPr algn="ctr">
              <a:defRPr/>
            </a:pPr>
            <a:fld id="{77997C50-7747-4FFA-BDF0-C13E98C7408A}" type="slidenum">
              <a:rPr lang="en-US" sz="1200" b="1">
                <a:solidFill>
                  <a:schemeClr val="accent1"/>
                </a:solidFill>
                <a:cs typeface="+mn-cs"/>
              </a:rPr>
              <a:pPr algn="ctr">
                <a:defRPr/>
              </a:pPr>
              <a:t>39</a:t>
            </a:fld>
            <a:endParaRPr lang="en-US" sz="1200" b="1" dirty="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69637" name="CaixaDeTexto 7"/>
          <p:cNvSpPr txBox="1">
            <a:spLocks noChangeArrowheads="1"/>
          </p:cNvSpPr>
          <p:nvPr/>
        </p:nvSpPr>
        <p:spPr bwMode="auto">
          <a:xfrm>
            <a:off x="0" y="6550025"/>
            <a:ext cx="8358188" cy="307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1400" b="1">
                <a:solidFill>
                  <a:srgbClr val="FFFFFF"/>
                </a:solidFill>
              </a:rPr>
              <a:t>Engenharia de Software I – Conceitos básicos de engenharia de software</a:t>
            </a:r>
          </a:p>
        </p:txBody>
      </p:sp>
      <p:pic>
        <p:nvPicPr>
          <p:cNvPr id="69638" name="Picture 2" descr="C:\Users\jader\AppData\Local\Microsoft\Windows\Temporary Internet Files\Content.IE5\TY5GZ3D1\MC900384020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4000500"/>
            <a:ext cx="1944688" cy="159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1374</TotalTime>
  <Words>1963</Words>
  <Application>Microsoft Office PowerPoint</Application>
  <PresentationFormat>Apresentação na tela (4:3)</PresentationFormat>
  <Paragraphs>382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Tema do Office</vt:lpstr>
      <vt:lpstr>Conceitos Básicos de Engenharia de Software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- Introdução</dc:title>
  <dc:creator>jader</dc:creator>
  <cp:lastModifiedBy>Roberto Zanoni</cp:lastModifiedBy>
  <cp:revision>102</cp:revision>
  <dcterms:created xsi:type="dcterms:W3CDTF">2010-02-11T09:39:58Z</dcterms:created>
  <dcterms:modified xsi:type="dcterms:W3CDTF">2019-08-07T10:41:45Z</dcterms:modified>
</cp:coreProperties>
</file>